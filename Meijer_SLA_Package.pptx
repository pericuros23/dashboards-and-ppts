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4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1A47"/>
                </a:solidFill>
                <a:latin typeface="Calibri"/>
              </a:rPr>
              <a:t>Monthly SLA % Trend vs Target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SLA %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A4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Apr-25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Aug-25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Dec-25</c:v>
                  </c:pt>
                  <c:pt idx="11">
                    <c:v>Jan-26</c:v>
                  </c:pt>
                  <c:pt idx="12">
                    <c:v>Feb-26</c:v>
                  </c:pt>
                  <c:pt idx="13">
                    <c:v>Mar-26</c:v>
                  </c:pt>
                  <c:pt idx="14">
                    <c:v>Apr-26</c:v>
                  </c:pt>
                  <c:pt idx="15">
                    <c:v>May-26</c:v>
                  </c:pt>
                  <c:pt idx="16">
                    <c:v>Jun-26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85</c:v>
                </c:pt>
                <c:pt idx="1">
                  <c:v>86</c:v>
                </c:pt>
                <c:pt idx="2">
                  <c:v>87</c:v>
                </c:pt>
                <c:pt idx="3">
                  <c:v>93</c:v>
                </c:pt>
                <c:pt idx="4">
                  <c:v>91</c:v>
                </c:pt>
                <c:pt idx="5">
                  <c:v>93</c:v>
                </c:pt>
                <c:pt idx="6">
                  <c:v>92</c:v>
                </c:pt>
                <c:pt idx="7">
                  <c:v>90</c:v>
                </c:pt>
                <c:pt idx="8">
                  <c:v>92</c:v>
                </c:pt>
                <c:pt idx="9">
                  <c:v>90</c:v>
                </c:pt>
                <c:pt idx="10">
                  <c:v>89</c:v>
                </c:pt>
                <c:pt idx="11">
                  <c:v>93</c:v>
                </c:pt>
                <c:pt idx="12">
                  <c:v>93</c:v>
                </c:pt>
                <c:pt idx="13">
                  <c:v>93</c:v>
                </c:pt>
                <c:pt idx="14">
                  <c:v>92</c:v>
                </c:pt>
                <c:pt idx="15">
                  <c:v>94</c:v>
                </c:pt>
                <c:pt idx="16">
                  <c:v>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(85%)</c:v>
                </c:pt>
              </c:strCache>
            </c:strRef>
          </c:tx>
          <c:spPr>
            <a:solidFill>
              <a:srgbClr val="C62828"/>
            </a:solidFill>
            <a:ln w="25400" cap="flat">
              <a:solidFill>
                <a:srgbClr val="C62828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A4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Apr-25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Aug-25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Dec-25</c:v>
                  </c:pt>
                  <c:pt idx="11">
                    <c:v>Jan-26</c:v>
                  </c:pt>
                  <c:pt idx="12">
                    <c:v>Feb-26</c:v>
                  </c:pt>
                  <c:pt idx="13">
                    <c:v>Mar-26</c:v>
                  </c:pt>
                  <c:pt idx="14">
                    <c:v>Apr-26</c:v>
                  </c:pt>
                  <c:pt idx="15">
                    <c:v>May-26</c:v>
                  </c:pt>
                  <c:pt idx="16">
                    <c:v>Jun-26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  <c:pt idx="4">
                  <c:v>85</c:v>
                </c:pt>
                <c:pt idx="5">
                  <c:v>85</c:v>
                </c:pt>
                <c:pt idx="6">
                  <c:v>85</c:v>
                </c:pt>
                <c:pt idx="7">
                  <c:v>85</c:v>
                </c:pt>
                <c:pt idx="8">
                  <c:v>85</c:v>
                </c:pt>
                <c:pt idx="9">
                  <c:v>85</c:v>
                </c:pt>
                <c:pt idx="10">
                  <c:v>85</c:v>
                </c:pt>
                <c:pt idx="11">
                  <c:v>85</c:v>
                </c:pt>
                <c:pt idx="12">
                  <c:v>85</c:v>
                </c:pt>
                <c:pt idx="13">
                  <c:v>85</c:v>
                </c:pt>
                <c:pt idx="14">
                  <c:v>85</c:v>
                </c:pt>
                <c:pt idx="15">
                  <c:v>85</c:v>
                </c:pt>
                <c:pt idx="16">
                  <c:v>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A47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9525" cap="flat">
              <a:solidFill>
                <a:srgbClr val="E5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472"/>
                    </a:solidFill>
                    <a:latin typeface="Arial"/>
                  </a:rPr>
                  <a:t>SLA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4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1A47"/>
                </a:solidFill>
                <a:latin typeface="Calibri"/>
              </a:rPr>
              <a:t>Monthly Ticket Volume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 Created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5B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Apr-25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Aug-25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Dec-25</c:v>
                  </c:pt>
                  <c:pt idx="11">
                    <c:v>Jan-26</c:v>
                  </c:pt>
                  <c:pt idx="12">
                    <c:v>Feb-26</c:v>
                  </c:pt>
                  <c:pt idx="13">
                    <c:v>Mar-26</c:v>
                  </c:pt>
                  <c:pt idx="14">
                    <c:v>Apr-26</c:v>
                  </c:pt>
                  <c:pt idx="15">
                    <c:v>May-26</c:v>
                  </c:pt>
                  <c:pt idx="16">
                    <c:v>Jun-26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1290</c:v>
                </c:pt>
                <c:pt idx="1">
                  <c:v>1416</c:v>
                </c:pt>
                <c:pt idx="2">
                  <c:v>1225</c:v>
                </c:pt>
                <c:pt idx="3">
                  <c:v>994</c:v>
                </c:pt>
                <c:pt idx="4">
                  <c:v>725</c:v>
                </c:pt>
                <c:pt idx="5">
                  <c:v>818</c:v>
                </c:pt>
                <c:pt idx="6">
                  <c:v>711</c:v>
                </c:pt>
                <c:pt idx="7">
                  <c:v>828</c:v>
                </c:pt>
                <c:pt idx="8">
                  <c:v>822</c:v>
                </c:pt>
                <c:pt idx="9">
                  <c:v>993</c:v>
                </c:pt>
                <c:pt idx="10">
                  <c:v>1006</c:v>
                </c:pt>
                <c:pt idx="11">
                  <c:v>1141</c:v>
                </c:pt>
                <c:pt idx="12">
                  <c:v>1084</c:v>
                </c:pt>
                <c:pt idx="13">
                  <c:v>1274</c:v>
                </c:pt>
                <c:pt idx="14">
                  <c:v>1259</c:v>
                </c:pt>
                <c:pt idx="15">
                  <c:v>1205</c:v>
                </c:pt>
                <c:pt idx="16">
                  <c:v>1208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5B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A4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41A47"/>
                </a:solidFill>
                <a:latin typeface="Calibri"/>
              </a:rPr>
              <a:t>VIP Portfolio SLA Trend vs. Target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VIP Portfolio Avg (10 stores)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Apr-25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Aug-25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Dec-25</c:v>
                  </c:pt>
                  <c:pt idx="11">
                    <c:v>Jan-26</c:v>
                  </c:pt>
                  <c:pt idx="12">
                    <c:v>Feb-26</c:v>
                  </c:pt>
                  <c:pt idx="13">
                    <c:v>Mar-26</c:v>
                  </c:pt>
                  <c:pt idx="14">
                    <c:v>Apr-26</c:v>
                  </c:pt>
                  <c:pt idx="15">
                    <c:v>May-26</c:v>
                  </c:pt>
                  <c:pt idx="16">
                    <c:v>Jun-26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85.4</c:v>
                </c:pt>
                <c:pt idx="1">
                  <c:v>91.6</c:v>
                </c:pt>
                <c:pt idx="2">
                  <c:v>90.7</c:v>
                </c:pt>
                <c:pt idx="3">
                  <c:v>100</c:v>
                </c:pt>
                <c:pt idx="4">
                  <c:v>93.7</c:v>
                </c:pt>
                <c:pt idx="5">
                  <c:v>91</c:v>
                </c:pt>
                <c:pt idx="6">
                  <c:v>100</c:v>
                </c:pt>
                <c:pt idx="7">
                  <c:v>100</c:v>
                </c:pt>
                <c:pt idx="8">
                  <c:v>88.5</c:v>
                </c:pt>
                <c:pt idx="9">
                  <c:v>88.7</c:v>
                </c:pt>
                <c:pt idx="10">
                  <c:v>93</c:v>
                </c:pt>
                <c:pt idx="11">
                  <c:v>94.2</c:v>
                </c:pt>
                <c:pt idx="12">
                  <c:v>95</c:v>
                </c:pt>
                <c:pt idx="13">
                  <c:v>98.7</c:v>
                </c:pt>
                <c:pt idx="14">
                  <c:v>97.6</c:v>
                </c:pt>
                <c:pt idx="15">
                  <c:v>86.3</c:v>
                </c:pt>
                <c:pt idx="16">
                  <c:v>87.6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(85%)</c:v>
                </c:pt>
              </c:strCache>
            </c:strRef>
          </c:tx>
          <c:spPr>
            <a:solidFill>
              <a:srgbClr val="9AA5B1"/>
            </a:solidFill>
            <a:ln w="25400" cap="flat">
              <a:solidFill>
                <a:srgbClr val="9AA5B1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AA5B1"/>
              </a:solidFill>
              <a:ln w="9525" cap="flat">
                <a:solidFill>
                  <a:srgbClr val="9AA5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Apr-25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Aug-25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Dec-25</c:v>
                  </c:pt>
                  <c:pt idx="11">
                    <c:v>Jan-26</c:v>
                  </c:pt>
                  <c:pt idx="12">
                    <c:v>Feb-26</c:v>
                  </c:pt>
                  <c:pt idx="13">
                    <c:v>Mar-26</c:v>
                  </c:pt>
                  <c:pt idx="14">
                    <c:v>Apr-26</c:v>
                  </c:pt>
                  <c:pt idx="15">
                    <c:v>May-26</c:v>
                  </c:pt>
                  <c:pt idx="16">
                    <c:v>Jun-26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  <c:pt idx="4">
                  <c:v>85</c:v>
                </c:pt>
                <c:pt idx="5">
                  <c:v>85</c:v>
                </c:pt>
                <c:pt idx="6">
                  <c:v>85</c:v>
                </c:pt>
                <c:pt idx="7">
                  <c:v>85</c:v>
                </c:pt>
                <c:pt idx="8">
                  <c:v>85</c:v>
                </c:pt>
                <c:pt idx="9">
                  <c:v>85</c:v>
                </c:pt>
                <c:pt idx="10">
                  <c:v>85</c:v>
                </c:pt>
                <c:pt idx="11">
                  <c:v>85</c:v>
                </c:pt>
                <c:pt idx="12">
                  <c:v>85</c:v>
                </c:pt>
                <c:pt idx="13">
                  <c:v>85</c:v>
                </c:pt>
                <c:pt idx="14">
                  <c:v>85</c:v>
                </c:pt>
                <c:pt idx="15">
                  <c:v>85</c:v>
                </c:pt>
                <c:pt idx="16">
                  <c:v>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6472"/>
                    </a:solidFill>
                    <a:latin typeface="Arial"/>
                  </a:rPr>
                  <a:t>SLA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Meijer SLA Performance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 – Jun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05256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BUSINESS REVIEW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938528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193852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252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SLA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0624" y="15270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59152" y="1143000"/>
            <a:ext cx="1938528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1143000"/>
            <a:ext cx="1938528" cy="54864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2" name="Text 10"/>
          <p:cNvSpPr/>
          <p:nvPr/>
        </p:nvSpPr>
        <p:spPr>
          <a:xfrm>
            <a:off x="2414016" y="1252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SLA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414016" y="15270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52544" y="1143000"/>
            <a:ext cx="1938528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2544" y="1143000"/>
            <a:ext cx="1938528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407408" y="1252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07408" y="15270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17,999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45936" y="1143000"/>
            <a:ext cx="1938528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1143000"/>
            <a:ext cx="193852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252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ABOVE TARGET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0" y="15270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339328" y="1143000"/>
            <a:ext cx="1938528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9328" y="1143000"/>
            <a:ext cx="1938528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8394192" y="1252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394192" y="15270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May-26 (94%)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332720" y="1143000"/>
            <a:ext cx="1938528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32720" y="1143000"/>
            <a:ext cx="1938528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6"/>
          <p:cNvSpPr/>
          <p:nvPr/>
        </p:nvSpPr>
        <p:spPr>
          <a:xfrm>
            <a:off x="10387584" y="1252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MONTH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387584" y="15270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Feb-25 (85%)</a:t>
            </a:r>
            <a:endParaRPr lang="en-US" sz="15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365760" y="2331720"/>
          <a:ext cx="58064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1" name="Chart 1" descr=""/>
          <p:cNvGraphicFramePr/>
          <p:nvPr/>
        </p:nvGraphicFramePr>
        <p:xfrm>
          <a:off x="6309360" y="2331720"/>
          <a:ext cx="5486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Shape 28"/>
          <p:cNvSpPr/>
          <p:nvPr/>
        </p:nvSpPr>
        <p:spPr>
          <a:xfrm>
            <a:off x="0" y="6382512"/>
            <a:ext cx="12188952" cy="18288"/>
          </a:xfrm>
          <a:prstGeom prst="rect">
            <a:avLst/>
          </a:prstGeom>
          <a:solidFill>
            <a:srgbClr val="D9DEE8"/>
          </a:solidFill>
          <a:ln/>
        </p:spPr>
      </p:sp>
      <p:sp>
        <p:nvSpPr>
          <p:cNvPr id="33" name="Text 29"/>
          <p:cNvSpPr/>
          <p:nvPr/>
        </p:nvSpPr>
        <p:spPr>
          <a:xfrm>
            <a:off x="365760" y="6355080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Summary: SLA performance averaged 90.9% against the 85% target across all 17 months reviewed, with every month meeting or exceeding target. Performance strengthened notably from Q2 2025 onward and has held in the low-to-mid 90s through Jun 2026, even as ticket volume grew from ~1,000/month in late 2025 to over 1,200/month by mid-2026. Feb 2025 was the softest month at exactly 85%, and May 2026 was the strongest at 94%, reflecting sustained operational improvement.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 Store SLA Trend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VIP Stores — Feb 2025 – Jun 2026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73609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1097280"/>
            <a:ext cx="3913632" cy="1463040"/>
          </a:xfrm>
          <a:prstGeom prst="roundRect">
            <a:avLst>
              <a:gd name="adj" fmla="val 3750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PERFORMING VIP STORE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92440" y="14813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Meijer #047 – Holland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9244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 average SLA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09560" y="2697480"/>
            <a:ext cx="3913632" cy="1463040"/>
          </a:xfrm>
          <a:prstGeom prst="roundRect">
            <a:avLst>
              <a:gd name="adj" fmla="val 3750"/>
            </a:avLst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PERFORMING VIP STORE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92440" y="30815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Meijer #119 – Kalamazoo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92440" y="3474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80.1% average SLA – requires attention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26280"/>
          <a:ext cx="7360920" cy="1828800"/>
        </p:xfrm>
        <a:graphic>
          <a:graphicData uri="http://schemas.openxmlformats.org/drawingml/2006/table">
            <a:tbl>
              <a:tblPr/>
              <a:tblGrid>
                <a:gridCol w="1554480"/>
                <a:gridCol w="2331720"/>
                <a:gridCol w="1463040"/>
                <a:gridCol w="2011680"/>
              </a:tblGrid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SLA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Meijer #033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Traverse 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Meijer #047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Meijer #050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Meijer #056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Meijer #108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Meijer #119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Kalamazoo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Meijer #158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Knapps Corner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Meijer #199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Caledonia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Meijer #216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Meijer #226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0" y="6382512"/>
            <a:ext cx="12188952" cy="18288"/>
          </a:xfrm>
          <a:prstGeom prst="rect">
            <a:avLst/>
          </a:prstGeom>
          <a:solidFill>
            <a:srgbClr val="D9DEE8"/>
          </a:solidFill>
          <a:ln/>
        </p:spPr>
      </p:sp>
      <p:sp>
        <p:nvSpPr>
          <p:cNvPr id="16" name="Text 12"/>
          <p:cNvSpPr/>
          <p:nvPr/>
        </p:nvSpPr>
        <p:spPr>
          <a:xfrm>
            <a:off x="7909560" y="4526280"/>
            <a:ext cx="39136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store summary: 9 of 10 top stores averaged above the 85% target, led by Meijer #047 (Holland) at 98.4%. Meijer #119 (Kalamazoo) is the outlier at 80.1%, driven by a sharp SLA dip in Apr–Jun 2026 despite rising ticket volume, and should be the focus of a targeted action plan.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2026-07-16T12:15:35Z</dcterms:created>
  <dcterms:modified xsi:type="dcterms:W3CDTF">2026-07-16T12:15:35Z</dcterms:modified>
</cp:coreProperties>
</file>