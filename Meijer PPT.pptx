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300" b="0">
                <a:solidFill>
                  <a:srgbClr val="141A47"/>
                </a:solidFill>
              </a:rPr>
              <a:t>Monthly SLA % Trend vs Target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SLA %</c:v>
                </c:pt>
              </c:strCache>
            </c:strRef>
          </c:tx>
          <c:spPr>
            <a:ln w="34925">
              <a:solidFill>
                <a:srgbClr val="1E2761"/>
              </a:solidFill>
            </a:ln>
          </c:spPr>
          <c:marker>
            <c:symbol val="circle"/>
            <c:size val="6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Sheet1!$A$2:$A$18</c:f>
              <c:strCache>
                <c:ptCount val="17"/>
                <c:pt idx="0">
                  <c:v>Feb-25</c:v>
                </c:pt>
                <c:pt idx="1">
                  <c:v>Mar-25</c:v>
                </c:pt>
                <c:pt idx="2">
                  <c:v>Apr-25</c:v>
                </c:pt>
                <c:pt idx="3">
                  <c:v>May-25</c:v>
                </c:pt>
                <c:pt idx="4">
                  <c:v>Jun-25</c:v>
                </c:pt>
                <c:pt idx="5">
                  <c:v>Jul-25</c:v>
                </c:pt>
                <c:pt idx="6">
                  <c:v>Aug-25</c:v>
                </c:pt>
                <c:pt idx="7">
                  <c:v>Sep-25</c:v>
                </c:pt>
                <c:pt idx="8">
                  <c:v>Oct-25</c:v>
                </c:pt>
                <c:pt idx="9">
                  <c:v>Nov-25</c:v>
                </c:pt>
                <c:pt idx="10">
                  <c:v>Dec-25</c:v>
                </c:pt>
                <c:pt idx="11">
                  <c:v>Jan-26</c:v>
                </c:pt>
                <c:pt idx="12">
                  <c:v>Feb-26</c:v>
                </c:pt>
                <c:pt idx="13">
                  <c:v>Mar-26</c:v>
                </c:pt>
                <c:pt idx="14">
                  <c:v>Apr-26</c:v>
                </c:pt>
                <c:pt idx="15">
                  <c:v>May-26</c:v>
                </c:pt>
                <c:pt idx="16">
                  <c:v>Jun-26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0.85</c:v>
                </c:pt>
                <c:pt idx="1">
                  <c:v>0.86</c:v>
                </c:pt>
                <c:pt idx="2">
                  <c:v>0.87</c:v>
                </c:pt>
                <c:pt idx="3">
                  <c:v>0.93</c:v>
                </c:pt>
                <c:pt idx="4">
                  <c:v>0.91</c:v>
                </c:pt>
                <c:pt idx="5">
                  <c:v>0.93</c:v>
                </c:pt>
                <c:pt idx="6">
                  <c:v>0.92</c:v>
                </c:pt>
                <c:pt idx="7">
                  <c:v>0.9</c:v>
                </c:pt>
                <c:pt idx="8">
                  <c:v>0.92</c:v>
                </c:pt>
                <c:pt idx="9">
                  <c:v>0.9</c:v>
                </c:pt>
                <c:pt idx="10">
                  <c:v>0.89</c:v>
                </c:pt>
                <c:pt idx="11">
                  <c:v>0.93</c:v>
                </c:pt>
                <c:pt idx="12">
                  <c:v>0.93</c:v>
                </c:pt>
                <c:pt idx="13">
                  <c:v>0.93</c:v>
                </c:pt>
                <c:pt idx="14">
                  <c:v>0.92</c:v>
                </c:pt>
                <c:pt idx="15">
                  <c:v>0.94</c:v>
                </c:pt>
                <c:pt idx="16">
                  <c:v>0.92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28-DC4F-BBE0-5C79C7C613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(85%)</c:v>
                </c:pt>
              </c:strCache>
            </c:strRef>
          </c:tx>
          <c:spPr>
            <a:ln w="19050">
              <a:solidFill>
                <a:srgbClr val="C62828"/>
              </a:solidFill>
              <a:prstDash val="sysDash"/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Feb-25</c:v>
                </c:pt>
                <c:pt idx="1">
                  <c:v>Mar-25</c:v>
                </c:pt>
                <c:pt idx="2">
                  <c:v>Apr-25</c:v>
                </c:pt>
                <c:pt idx="3">
                  <c:v>May-25</c:v>
                </c:pt>
                <c:pt idx="4">
                  <c:v>Jun-25</c:v>
                </c:pt>
                <c:pt idx="5">
                  <c:v>Jul-25</c:v>
                </c:pt>
                <c:pt idx="6">
                  <c:v>Aug-25</c:v>
                </c:pt>
                <c:pt idx="7">
                  <c:v>Sep-25</c:v>
                </c:pt>
                <c:pt idx="8">
                  <c:v>Oct-25</c:v>
                </c:pt>
                <c:pt idx="9">
                  <c:v>Nov-25</c:v>
                </c:pt>
                <c:pt idx="10">
                  <c:v>Dec-25</c:v>
                </c:pt>
                <c:pt idx="11">
                  <c:v>Jan-26</c:v>
                </c:pt>
                <c:pt idx="12">
                  <c:v>Feb-26</c:v>
                </c:pt>
                <c:pt idx="13">
                  <c:v>Mar-26</c:v>
                </c:pt>
                <c:pt idx="14">
                  <c:v>Apr-26</c:v>
                </c:pt>
                <c:pt idx="15">
                  <c:v>May-26</c:v>
                </c:pt>
                <c:pt idx="16">
                  <c:v>Jun-26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0.85</c:v>
                </c:pt>
                <c:pt idx="1">
                  <c:v>0.85</c:v>
                </c:pt>
                <c:pt idx="2">
                  <c:v>0.85</c:v>
                </c:pt>
                <c:pt idx="3">
                  <c:v>0.85</c:v>
                </c:pt>
                <c:pt idx="4">
                  <c:v>0.85</c:v>
                </c:pt>
                <c:pt idx="5">
                  <c:v>0.85</c:v>
                </c:pt>
                <c:pt idx="6">
                  <c:v>0.85</c:v>
                </c:pt>
                <c:pt idx="7">
                  <c:v>0.85</c:v>
                </c:pt>
                <c:pt idx="8">
                  <c:v>0.85</c:v>
                </c:pt>
                <c:pt idx="9">
                  <c:v>0.85</c:v>
                </c:pt>
                <c:pt idx="10">
                  <c:v>0.85</c:v>
                </c:pt>
                <c:pt idx="11">
                  <c:v>0.85</c:v>
                </c:pt>
                <c:pt idx="12">
                  <c:v>0.85</c:v>
                </c:pt>
                <c:pt idx="13">
                  <c:v>0.85</c:v>
                </c:pt>
                <c:pt idx="14">
                  <c:v>0.85</c:v>
                </c:pt>
                <c:pt idx="15">
                  <c:v>0.85</c:v>
                </c:pt>
                <c:pt idx="16">
                  <c:v>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28-DC4F-BBE0-5C79C7C61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 rot="-2700000"/>
          <a:lstStyle/>
          <a:p>
            <a:pPr>
              <a:defRPr sz="800">
                <a:solidFill>
                  <a:srgbClr val="5B6472"/>
                </a:solidFill>
                <a:latin typeface="Calibri"/>
              </a:defRPr>
            </a:pPr>
            <a:endParaRPr lang="en-R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.75"/>
        </c:scaling>
        <c:delete val="0"/>
        <c:axPos val="l"/>
        <c:majorGridlines>
          <c:spPr>
            <a:ln w="9525">
              <a:solidFill>
                <a:srgbClr val="E5E8EE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472"/>
                </a:solidFill>
                <a:latin typeface="Calibri"/>
              </a:defRPr>
            </a:pPr>
            <a:endParaRPr lang="en-RS"/>
          </a:p>
        </c:txPr>
        <c:crossAx val="2118791784"/>
        <c:crosses val="autoZero"/>
        <c:crossBetween val="between"/>
        <c:majorUnit val="0.05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5B6472"/>
              </a:solidFill>
            </a:defRPr>
          </a:pPr>
          <a:endParaRPr lang="en-R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300" b="0">
                <a:solidFill>
                  <a:srgbClr val="141A47"/>
                </a:solidFill>
              </a:rPr>
              <a:t>Monthly Ticket Volume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 Created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472"/>
                    </a:solidFill>
                  </a:defRPr>
                </a:pPr>
                <a:endParaRPr lang="en-R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Feb-25</c:v>
                </c:pt>
                <c:pt idx="1">
                  <c:v>Mar-25</c:v>
                </c:pt>
                <c:pt idx="2">
                  <c:v>Apr-25</c:v>
                </c:pt>
                <c:pt idx="3">
                  <c:v>May-25</c:v>
                </c:pt>
                <c:pt idx="4">
                  <c:v>Jun-25</c:v>
                </c:pt>
                <c:pt idx="5">
                  <c:v>Jul-25</c:v>
                </c:pt>
                <c:pt idx="6">
                  <c:v>Aug-25</c:v>
                </c:pt>
                <c:pt idx="7">
                  <c:v>Sep-25</c:v>
                </c:pt>
                <c:pt idx="8">
                  <c:v>Oct-25</c:v>
                </c:pt>
                <c:pt idx="9">
                  <c:v>Nov-25</c:v>
                </c:pt>
                <c:pt idx="10">
                  <c:v>Dec-25</c:v>
                </c:pt>
                <c:pt idx="11">
                  <c:v>Jan-26</c:v>
                </c:pt>
                <c:pt idx="12">
                  <c:v>Feb-26</c:v>
                </c:pt>
                <c:pt idx="13">
                  <c:v>Mar-26</c:v>
                </c:pt>
                <c:pt idx="14">
                  <c:v>Apr-26</c:v>
                </c:pt>
                <c:pt idx="15">
                  <c:v>May-26</c:v>
                </c:pt>
                <c:pt idx="16">
                  <c:v>Jun-26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1290</c:v>
                </c:pt>
                <c:pt idx="1">
                  <c:v>1416</c:v>
                </c:pt>
                <c:pt idx="2">
                  <c:v>1225</c:v>
                </c:pt>
                <c:pt idx="3">
                  <c:v>994</c:v>
                </c:pt>
                <c:pt idx="4">
                  <c:v>725</c:v>
                </c:pt>
                <c:pt idx="5">
                  <c:v>818</c:v>
                </c:pt>
                <c:pt idx="6">
                  <c:v>711</c:v>
                </c:pt>
                <c:pt idx="7">
                  <c:v>828</c:v>
                </c:pt>
                <c:pt idx="8">
                  <c:v>822</c:v>
                </c:pt>
                <c:pt idx="9">
                  <c:v>993</c:v>
                </c:pt>
                <c:pt idx="10">
                  <c:v>1006</c:v>
                </c:pt>
                <c:pt idx="11">
                  <c:v>1141</c:v>
                </c:pt>
                <c:pt idx="12">
                  <c:v>1084</c:v>
                </c:pt>
                <c:pt idx="13">
                  <c:v>1274</c:v>
                </c:pt>
                <c:pt idx="14">
                  <c:v>1259</c:v>
                </c:pt>
                <c:pt idx="15">
                  <c:v>1205</c:v>
                </c:pt>
                <c:pt idx="16">
                  <c:v>1208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00B-8542-A1ED-3565163C3E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 rot="-2700000"/>
          <a:lstStyle/>
          <a:p>
            <a:pPr>
              <a:defRPr sz="800">
                <a:solidFill>
                  <a:srgbClr val="5B6472"/>
                </a:solidFill>
                <a:latin typeface="Calibri"/>
              </a:defRPr>
            </a:pPr>
            <a:endParaRPr lang="e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5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472"/>
                </a:solidFill>
                <a:latin typeface="Calibri"/>
              </a:defRPr>
            </a:pPr>
            <a:endParaRPr lang="en-R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GB" sz="1200" b="0">
                <a:solidFill>
                  <a:srgbClr val="141A47"/>
                </a:solidFill>
              </a:rPr>
              <a:t>VIP Portfolio SLA Trend vs. Target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VIP Portfolio Avg (10 stores)</c:v>
                </c:pt>
              </c:strCache>
            </c:strRef>
          </c:tx>
          <c:spPr>
            <a:ln w="34925">
              <a:solidFill>
                <a:srgbClr val="1E2761"/>
              </a:solidFill>
            </a:ln>
          </c:spPr>
          <c:marker>
            <c:symbol val="circle"/>
            <c:size val="6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Sheet1!$A$2:$A$18</c:f>
              <c:strCache>
                <c:ptCount val="17"/>
                <c:pt idx="0">
                  <c:v>Feb-25</c:v>
                </c:pt>
                <c:pt idx="1">
                  <c:v>Mar-25</c:v>
                </c:pt>
                <c:pt idx="2">
                  <c:v>Apr-25</c:v>
                </c:pt>
                <c:pt idx="3">
                  <c:v>May-25</c:v>
                </c:pt>
                <c:pt idx="4">
                  <c:v>Jun-25</c:v>
                </c:pt>
                <c:pt idx="5">
                  <c:v>Jul-25</c:v>
                </c:pt>
                <c:pt idx="6">
                  <c:v>Aug-25</c:v>
                </c:pt>
                <c:pt idx="7">
                  <c:v>Sep-25</c:v>
                </c:pt>
                <c:pt idx="8">
                  <c:v>Oct-25</c:v>
                </c:pt>
                <c:pt idx="9">
                  <c:v>Nov-25</c:v>
                </c:pt>
                <c:pt idx="10">
                  <c:v>Dec-25</c:v>
                </c:pt>
                <c:pt idx="11">
                  <c:v>Jan-26</c:v>
                </c:pt>
                <c:pt idx="12">
                  <c:v>Feb-26</c:v>
                </c:pt>
                <c:pt idx="13">
                  <c:v>Mar-26</c:v>
                </c:pt>
                <c:pt idx="14">
                  <c:v>Apr-26</c:v>
                </c:pt>
                <c:pt idx="15">
                  <c:v>May-26</c:v>
                </c:pt>
                <c:pt idx="16">
                  <c:v>Jun-26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0.85400000000000009</c:v>
                </c:pt>
                <c:pt idx="1">
                  <c:v>0.91599999999999993</c:v>
                </c:pt>
                <c:pt idx="2">
                  <c:v>0.90700000000000003</c:v>
                </c:pt>
                <c:pt idx="3">
                  <c:v>1</c:v>
                </c:pt>
                <c:pt idx="4">
                  <c:v>0.93700000000000006</c:v>
                </c:pt>
                <c:pt idx="5">
                  <c:v>0.91</c:v>
                </c:pt>
                <c:pt idx="6">
                  <c:v>1</c:v>
                </c:pt>
                <c:pt idx="7">
                  <c:v>1</c:v>
                </c:pt>
                <c:pt idx="8">
                  <c:v>0.88500000000000001</c:v>
                </c:pt>
                <c:pt idx="9">
                  <c:v>0.88700000000000001</c:v>
                </c:pt>
                <c:pt idx="10">
                  <c:v>0.93</c:v>
                </c:pt>
                <c:pt idx="11">
                  <c:v>0.94200000000000006</c:v>
                </c:pt>
                <c:pt idx="12">
                  <c:v>0.95</c:v>
                </c:pt>
                <c:pt idx="13">
                  <c:v>0.98699999999999999</c:v>
                </c:pt>
                <c:pt idx="14">
                  <c:v>0.97599999999999998</c:v>
                </c:pt>
                <c:pt idx="15">
                  <c:v>0.86299999999999999</c:v>
                </c:pt>
                <c:pt idx="16">
                  <c:v>0.87599999999999989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1E-D441-9EA3-5BA6C86E89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(85%)</c:v>
                </c:pt>
              </c:strCache>
            </c:strRef>
          </c:tx>
          <c:spPr>
            <a:ln w="15875">
              <a:solidFill>
                <a:srgbClr val="9AA5B1"/>
              </a:solidFill>
              <a:prstDash val="sysDash"/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Feb-25</c:v>
                </c:pt>
                <c:pt idx="1">
                  <c:v>Mar-25</c:v>
                </c:pt>
                <c:pt idx="2">
                  <c:v>Apr-25</c:v>
                </c:pt>
                <c:pt idx="3">
                  <c:v>May-25</c:v>
                </c:pt>
                <c:pt idx="4">
                  <c:v>Jun-25</c:v>
                </c:pt>
                <c:pt idx="5">
                  <c:v>Jul-25</c:v>
                </c:pt>
                <c:pt idx="6">
                  <c:v>Aug-25</c:v>
                </c:pt>
                <c:pt idx="7">
                  <c:v>Sep-25</c:v>
                </c:pt>
                <c:pt idx="8">
                  <c:v>Oct-25</c:v>
                </c:pt>
                <c:pt idx="9">
                  <c:v>Nov-25</c:v>
                </c:pt>
                <c:pt idx="10">
                  <c:v>Dec-25</c:v>
                </c:pt>
                <c:pt idx="11">
                  <c:v>Jan-26</c:v>
                </c:pt>
                <c:pt idx="12">
                  <c:v>Feb-26</c:v>
                </c:pt>
                <c:pt idx="13">
                  <c:v>Mar-26</c:v>
                </c:pt>
                <c:pt idx="14">
                  <c:v>Apr-26</c:v>
                </c:pt>
                <c:pt idx="15">
                  <c:v>May-26</c:v>
                </c:pt>
                <c:pt idx="16">
                  <c:v>Jun-26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0.85</c:v>
                </c:pt>
                <c:pt idx="1">
                  <c:v>0.85</c:v>
                </c:pt>
                <c:pt idx="2">
                  <c:v>0.85</c:v>
                </c:pt>
                <c:pt idx="3">
                  <c:v>0.85</c:v>
                </c:pt>
                <c:pt idx="4">
                  <c:v>0.85</c:v>
                </c:pt>
                <c:pt idx="5">
                  <c:v>0.85</c:v>
                </c:pt>
                <c:pt idx="6">
                  <c:v>0.85</c:v>
                </c:pt>
                <c:pt idx="7">
                  <c:v>0.85</c:v>
                </c:pt>
                <c:pt idx="8">
                  <c:v>0.85</c:v>
                </c:pt>
                <c:pt idx="9">
                  <c:v>0.85</c:v>
                </c:pt>
                <c:pt idx="10">
                  <c:v>0.85</c:v>
                </c:pt>
                <c:pt idx="11">
                  <c:v>0.85</c:v>
                </c:pt>
                <c:pt idx="12">
                  <c:v>0.85</c:v>
                </c:pt>
                <c:pt idx="13">
                  <c:v>0.85</c:v>
                </c:pt>
                <c:pt idx="14">
                  <c:v>0.85</c:v>
                </c:pt>
                <c:pt idx="15">
                  <c:v>0.85</c:v>
                </c:pt>
                <c:pt idx="16">
                  <c:v>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1E-D441-9EA3-5BA6C86E89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 rot="-2700000"/>
          <a:lstStyle/>
          <a:p>
            <a:pPr>
              <a:defRPr sz="800">
                <a:solidFill>
                  <a:srgbClr val="5B6472"/>
                </a:solidFill>
                <a:latin typeface="Calibri"/>
              </a:defRPr>
            </a:pPr>
            <a:endParaRPr lang="en-R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5E8EE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472"/>
                </a:solidFill>
                <a:latin typeface="Calibri"/>
              </a:defRPr>
            </a:pPr>
            <a:endParaRPr lang="en-RS"/>
          </a:p>
        </c:txPr>
        <c:crossAx val="2118791784"/>
        <c:crosses val="autoZero"/>
        <c:crossBetween val="between"/>
        <c:majorUnit val="0.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5B6472"/>
              </a:solidFill>
            </a:defRPr>
          </a:pPr>
          <a:endParaRPr lang="en-R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Meijer SLA Performance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Feb 2025 – Jun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918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CADCFC"/>
                </a:solidFill>
                <a:latin typeface="Calibri"/>
              </a:rPr>
              <a:t>MONTHLY BUSINESS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920240" cy="960120"/>
          </a:xfrm>
          <a:prstGeom prst="rect">
            <a:avLst/>
          </a:prstGeom>
          <a:solidFill>
            <a:srgbClr val="F4F6FA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920240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5B6472"/>
                </a:solidFill>
                <a:latin typeface="Calibri"/>
              </a:rPr>
              <a:t>Average SLA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36191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  <a:latin typeface="Calibri"/>
              </a:rPr>
              <a:t>90.9%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143000"/>
            <a:ext cx="1920240" cy="960120"/>
          </a:xfrm>
          <a:prstGeom prst="rect">
            <a:avLst/>
          </a:prstGeom>
          <a:solidFill>
            <a:srgbClr val="F4F6FA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50008" y="1143000"/>
            <a:ext cx="1920240" cy="54864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95727" y="12618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5B6472"/>
                </a:solidFill>
                <a:latin typeface="Calibri"/>
              </a:rPr>
              <a:t>Target 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7" y="1536191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5B6472"/>
                </a:solidFill>
                <a:latin typeface="Calibri"/>
              </a:rPr>
              <a:t>85%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143000"/>
            <a:ext cx="1920240" cy="960120"/>
          </a:xfrm>
          <a:prstGeom prst="rect">
            <a:avLst/>
          </a:prstGeom>
          <a:solidFill>
            <a:srgbClr val="F4F6FA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4256" y="1143000"/>
            <a:ext cx="1920240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6" y="12618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5B6472"/>
                </a:solidFill>
                <a:latin typeface="Calibri"/>
              </a:rPr>
              <a:t>Total Tickets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1536191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17,999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18504" y="1143000"/>
            <a:ext cx="1920240" cy="960120"/>
          </a:xfrm>
          <a:prstGeom prst="rect">
            <a:avLst/>
          </a:prstGeom>
          <a:solidFill>
            <a:srgbClr val="F4F6FA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18504" y="1143000"/>
            <a:ext cx="1920240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12618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5B6472"/>
                </a:solidFill>
                <a:latin typeface="Calibri"/>
              </a:rPr>
              <a:t>Months Above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536191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  <a:latin typeface="Calibri"/>
              </a:rPr>
              <a:t>17 / 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143000"/>
            <a:ext cx="1920240" cy="960120"/>
          </a:xfrm>
          <a:prstGeom prst="rect">
            <a:avLst/>
          </a:prstGeom>
          <a:solidFill>
            <a:srgbClr val="F4F6FA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02752" y="1143000"/>
            <a:ext cx="1920240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12618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5B6472"/>
                </a:solidFill>
                <a:latin typeface="Calibri"/>
              </a:rPr>
              <a:t>Best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1536191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Calibri"/>
              </a:rPr>
              <a:t>May-26 (94.0%)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1143000"/>
            <a:ext cx="1920240" cy="960120"/>
          </a:xfrm>
          <a:prstGeom prst="rect">
            <a:avLst/>
          </a:prstGeom>
          <a:solidFill>
            <a:srgbClr val="F4F6FA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87000" y="1143000"/>
            <a:ext cx="1920240" cy="54864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20" y="12618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5B6472"/>
                </a:solidFill>
                <a:latin typeface="Calibri"/>
              </a:rPr>
              <a:t>Lowest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1536191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  <a:latin typeface="Calibri"/>
              </a:rPr>
              <a:t>Feb-25 (85.0%)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365760" y="2331720"/>
          <a:ext cx="58064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355080" y="2331720"/>
          <a:ext cx="546811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Rectangle 31"/>
          <p:cNvSpPr/>
          <p:nvPr/>
        </p:nvSpPr>
        <p:spPr>
          <a:xfrm>
            <a:off x="0" y="6382512"/>
            <a:ext cx="12191695" cy="18288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428232"/>
            <a:ext cx="114574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41A47"/>
                </a:solidFill>
                <a:latin typeface="Calibri"/>
              </a:rPr>
              <a:t>SLA held above the 85% target in all 17 months, averaging 90.9% overall. Performance stepped up meaningfully after Feb 2025 and has stayed in the low-to-mid 90s since — Jun 2025 through Jun 2026 never dropped below 89%, even as monthly ticket volume climbed from under 900 to over 1,200. Feb 2025 (85.0%) was the tightest month against target; May 2026 (94.0%) was the strongest.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VIP Store SLA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5216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Top 10 VIP Stores — Feb 2025 – Jun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97280"/>
          <a:ext cx="73609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09560" y="1097280"/>
            <a:ext cx="3913632" cy="1463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2440" y="12070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HIGHEST PERFORMING VIP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49047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A47"/>
                </a:solidFill>
                <a:latin typeface="Calibri"/>
              </a:rPr>
              <a:t>Meijer #047 – Holland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88366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98.4% average SLA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697480"/>
            <a:ext cx="3913632" cy="146304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80720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Calibri"/>
              </a:rPr>
              <a:t>LOWEST PERFORMING VIP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09067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41A47"/>
                </a:solidFill>
                <a:latin typeface="Calibri"/>
              </a:rPr>
              <a:t>Meijer #119 – Kalamazoo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48386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  <a:latin typeface="Calibri"/>
              </a:rPr>
              <a:t>80.1% average SLA – needs a corrective plan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526280"/>
          <a:ext cx="7360920" cy="2156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Store #</a:t>
                      </a:r>
                    </a:p>
                  </a:txBody>
                  <a:tcPr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Tickets</a:t>
                      </a:r>
                    </a:p>
                  </a:txBody>
                  <a:tcPr marT="25400" marB="2540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Avg SLA %</a:t>
                      </a:r>
                    </a:p>
                  </a:txBody>
                  <a:tcPr marT="25400" marB="2540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#033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Traverse City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96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9A825"/>
                          </a:solidFill>
                        </a:rPr>
                        <a:t>86.4%</a:t>
                      </a:r>
                    </a:p>
                  </a:txBody>
                  <a:tcPr marT="12700" marB="12700" anchor="ctr"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#047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Holland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63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</a:rPr>
                        <a:t>98.4%</a:t>
                      </a:r>
                    </a:p>
                  </a:txBody>
                  <a:tcPr marT="12700" marB="12700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#050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Cascade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73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</a:rPr>
                        <a:t>92.1%</a:t>
                      </a:r>
                    </a:p>
                  </a:txBody>
                  <a:tcPr marT="12700" marB="12700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#056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Jackson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81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</a:rPr>
                        <a:t>97.5%</a:t>
                      </a:r>
                    </a:p>
                  </a:txBody>
                  <a:tcPr marT="12700" marB="12700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#108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Midland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75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</a:rPr>
                        <a:t>96.0%</a:t>
                      </a:r>
                    </a:p>
                  </a:txBody>
                  <a:tcPr marT="12700" marB="12700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#119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Kalamazoo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121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</a:rPr>
                        <a:t>80.1%</a:t>
                      </a:r>
                    </a:p>
                  </a:txBody>
                  <a:tcPr marT="12700" marB="12700" anchor="ctr"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#158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Knapps Corner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131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</a:rPr>
                        <a:t>96.2%</a:t>
                      </a:r>
                    </a:p>
                  </a:txBody>
                  <a:tcPr marT="12700" marB="12700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#199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Caledonia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109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</a:rPr>
                        <a:t>96.2%</a:t>
                      </a:r>
                    </a:p>
                  </a:txBody>
                  <a:tcPr marT="12700" marB="12700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34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#216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Standale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98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</a:rPr>
                        <a:t>95.9%</a:t>
                      </a:r>
                    </a:p>
                  </a:txBody>
                  <a:tcPr marT="12700" marB="12700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35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Meijer #226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41A47"/>
                          </a:solidFill>
                        </a:rPr>
                        <a:t>Algoma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41A47"/>
                          </a:solidFill>
                        </a:rPr>
                        <a:t>27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</a:rPr>
                        <a:t>88.7%</a:t>
                      </a:r>
                    </a:p>
                  </a:txBody>
                  <a:tcPr marT="12700" marB="12700" anchor="ctr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6729984"/>
            <a:ext cx="12191695" cy="18288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4526280"/>
            <a:ext cx="39136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41A47"/>
                </a:solidFill>
                <a:latin typeface="Calibri"/>
              </a:rPr>
              <a:t>9 of the 10 VIP stores ran above the 85% target on average, topped by Meijer #047 (Holland) at 98.4%. Meijer #119 (Kalamazoo) is the exception at 80.1%, pulled down by a steep drop in Apr–Jun 2026 while its ticket volume was rising — worth a closer look before the next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323</Words>
  <Application>Microsoft Macintosh PowerPoint</Application>
  <PresentationFormat>Widescreen</PresentationFormat>
  <Paragraphs>72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Uros Peric</cp:lastModifiedBy>
  <cp:revision>2</cp:revision>
  <dcterms:created xsi:type="dcterms:W3CDTF">2013-01-27T09:14:16Z</dcterms:created>
  <dcterms:modified xsi:type="dcterms:W3CDTF">2026-07-16T13:59:26Z</dcterms:modified>
  <cp:category/>
</cp:coreProperties>
</file>