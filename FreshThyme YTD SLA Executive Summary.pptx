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0" i="0" u="none" strike="noStrike">
                <a:solidFill>
                  <a:srgbClr val="1F3864"/>
                </a:solidFill>
                <a:latin typeface="Arial"/>
              </a:defRPr>
            </a:pPr>
            <a:r>
              <a:rPr lang="en-GB" sz="1400" b="0" i="0" u="none" strike="noStrike">
                <a:solidFill>
                  <a:srgbClr val="1F3864"/>
                </a:solidFill>
                <a:latin typeface="Arial"/>
              </a:rPr>
              <a:t>Monthly SLA % — YTD Trend</a:t>
            </a:r>
          </a:p>
        </c:rich>
      </c:tx>
      <c:overlay val="0"/>
    </c:title>
    <c:autoTitleDeleted val="0"/>
    <c:plotArea>
      <c:layout/>
      <c:lineChart>
        <c:grouping val="standard"/>
        <c:varyColors val="0"/>
        <c:ser>
          <c:idx val="0"/>
          <c:order val="0"/>
          <c:tx>
            <c:strRef>
              <c:f>Sheet1!$B$1</c:f>
              <c:strCache>
                <c:ptCount val="1"/>
                <c:pt idx="0">
                  <c:v>SLA %</c:v>
                </c:pt>
              </c:strCache>
            </c:strRef>
          </c:tx>
          <c:spPr>
            <a:ln w="38100" cap="flat">
              <a:solidFill>
                <a:srgbClr val="1F3864"/>
              </a:solidFill>
              <a:prstDash val="solid"/>
              <a:round/>
            </a:ln>
            <a:effectLst/>
          </c:spPr>
          <c:marker>
            <c:symbol val="circle"/>
            <c:size val="6"/>
            <c:spPr>
              <a:solidFill>
                <a:srgbClr val="1F3864"/>
              </a:solidFill>
              <a:ln w="9525" cap="flat">
                <a:solidFill>
                  <a:srgbClr val="1F3864"/>
                </a:solidFill>
                <a:prstDash val="solid"/>
                <a:round/>
              </a:ln>
              <a:effectLst/>
            </c:spPr>
          </c:marker>
          <c:cat>
            <c:strRef>
              <c:f>Sheet1!$A$2:$A$14</c:f>
              <c:strCache>
                <c:ptCount val="13"/>
                <c:pt idx="0">
                  <c:v>Aug-25</c:v>
                </c:pt>
                <c:pt idx="1">
                  <c:v>Sep-25</c:v>
                </c:pt>
                <c:pt idx="2">
                  <c:v>Oct-25</c:v>
                </c:pt>
                <c:pt idx="3">
                  <c:v>Nov-25</c:v>
                </c:pt>
                <c:pt idx="4">
                  <c:v>Dec-25</c:v>
                </c:pt>
                <c:pt idx="5">
                  <c:v>Jan-26</c:v>
                </c:pt>
                <c:pt idx="6">
                  <c:v>Feb-26</c:v>
                </c:pt>
                <c:pt idx="7">
                  <c:v>Mar-26</c:v>
                </c:pt>
                <c:pt idx="8">
                  <c:v>Apr-26</c:v>
                </c:pt>
                <c:pt idx="9">
                  <c:v>May-26</c:v>
                </c:pt>
                <c:pt idx="10">
                  <c:v>Jun-26</c:v>
                </c:pt>
                <c:pt idx="11">
                  <c:v>Jul-26</c:v>
                </c:pt>
                <c:pt idx="12">
                  <c:v>Aug-26</c:v>
                </c:pt>
              </c:strCache>
            </c:strRef>
          </c:cat>
          <c:val>
            <c:numRef>
              <c:f>Sheet1!$B$2:$B$14</c:f>
              <c:numCache>
                <c:formatCode>General</c:formatCode>
                <c:ptCount val="13"/>
                <c:pt idx="0">
                  <c:v>0.78900000000000003</c:v>
                </c:pt>
                <c:pt idx="1">
                  <c:v>0.70499999999999996</c:v>
                </c:pt>
                <c:pt idx="2">
                  <c:v>0.622</c:v>
                </c:pt>
                <c:pt idx="3">
                  <c:v>0.39300000000000002</c:v>
                </c:pt>
                <c:pt idx="4">
                  <c:v>0.82099999999999995</c:v>
                </c:pt>
                <c:pt idx="5">
                  <c:v>0.73699999999999999</c:v>
                </c:pt>
                <c:pt idx="6">
                  <c:v>1</c:v>
                </c:pt>
                <c:pt idx="7">
                  <c:v>0.88900000000000001</c:v>
                </c:pt>
                <c:pt idx="8">
                  <c:v>0.97499999999999998</c:v>
                </c:pt>
                <c:pt idx="9">
                  <c:v>0.85699999999999998</c:v>
                </c:pt>
                <c:pt idx="10">
                  <c:v>0.6</c:v>
                </c:pt>
                <c:pt idx="11">
                  <c:v>0.65500000000000003</c:v>
                </c:pt>
                <c:pt idx="12">
                  <c:v>1</c:v>
                </c:pt>
              </c:numCache>
            </c:numRef>
          </c:val>
          <c:smooth val="0"/>
          <c:extLst>
            <c:ext xmlns:c16="http://schemas.microsoft.com/office/drawing/2014/chart" uri="{C3380CC4-5D6E-409C-BE32-E72D297353CC}">
              <c16:uniqueId val="{00000000-CD36-1B41-9CDD-7A251A1B99D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5A5A"/>
                </a:solidFill>
                <a:latin typeface="Arial"/>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12700" cap="flat">
              <a:solidFill>
                <a:srgbClr val="E4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A5A"/>
                </a:solidFill>
                <a:latin typeface="Arial"/>
              </a:defRPr>
            </a:pPr>
            <a:endParaRPr lang="en-US"/>
          </a:p>
        </c:txPr>
        <c:crossAx val="2094734554"/>
        <c:crosses val="autoZero"/>
        <c:crossBetween val="between"/>
        <c:majorUnit val="0.2"/>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F3864"/>
                </a:solidFill>
                <a:latin typeface="Arial"/>
              </a:defRPr>
            </a:pPr>
            <a:r>
              <a:rPr lang="en-GB" sz="1300" b="0" i="0" u="none" strike="noStrike">
                <a:solidFill>
                  <a:srgbClr val="1F3864"/>
                </a:solidFill>
                <a:latin typeface="Arial"/>
              </a:rPr>
              <a:t>“Customer Contracted Reasons” Exception Rate by Month</a:t>
            </a:r>
          </a:p>
        </c:rich>
      </c:tx>
      <c:overlay val="0"/>
    </c:title>
    <c:autoTitleDeleted val="0"/>
    <c:plotArea>
      <c:layout/>
      <c:barChart>
        <c:barDir val="col"/>
        <c:grouping val="clustered"/>
        <c:varyColors val="0"/>
        <c:ser>
          <c:idx val="0"/>
          <c:order val="0"/>
          <c:tx>
            <c:strRef>
              <c:f>Sheet1!$B$1</c:f>
              <c:strCache>
                <c:ptCount val="1"/>
                <c:pt idx="0">
                  <c:v>Exception Rate (CCR)</c:v>
                </c:pt>
              </c:strCache>
            </c:strRef>
          </c:tx>
          <c:spPr>
            <a:solidFill>
              <a:srgbClr val="B8860B"/>
            </a:solidFill>
            <a:effectLst/>
          </c:spPr>
          <c:invertIfNegative val="0"/>
          <c:cat>
            <c:strRef>
              <c:f>Sheet1!$A$2:$A$14</c:f>
              <c:strCache>
                <c:ptCount val="13"/>
                <c:pt idx="0">
                  <c:v>Aug-25</c:v>
                </c:pt>
                <c:pt idx="1">
                  <c:v>Sep-25</c:v>
                </c:pt>
                <c:pt idx="2">
                  <c:v>Oct-25</c:v>
                </c:pt>
                <c:pt idx="3">
                  <c:v>Nov-25</c:v>
                </c:pt>
                <c:pt idx="4">
                  <c:v>Dec-25</c:v>
                </c:pt>
                <c:pt idx="5">
                  <c:v>Jan-26</c:v>
                </c:pt>
                <c:pt idx="6">
                  <c:v>Feb-26</c:v>
                </c:pt>
                <c:pt idx="7">
                  <c:v>Mar-26</c:v>
                </c:pt>
                <c:pt idx="8">
                  <c:v>Apr-26</c:v>
                </c:pt>
                <c:pt idx="9">
                  <c:v>May-26</c:v>
                </c:pt>
                <c:pt idx="10">
                  <c:v>Jun-26</c:v>
                </c:pt>
                <c:pt idx="11">
                  <c:v>Jul-26</c:v>
                </c:pt>
                <c:pt idx="12">
                  <c:v>Aug-26</c:v>
                </c:pt>
              </c:strCache>
            </c:strRef>
          </c:cat>
          <c:val>
            <c:numRef>
              <c:f>Sheet1!$B$2:$B$14</c:f>
              <c:numCache>
                <c:formatCode>General</c:formatCode>
                <c:ptCount val="13"/>
                <c:pt idx="0">
                  <c:v>7.6999999999999999E-2</c:v>
                </c:pt>
                <c:pt idx="1">
                  <c:v>0.193</c:v>
                </c:pt>
                <c:pt idx="2">
                  <c:v>0.125</c:v>
                </c:pt>
                <c:pt idx="3">
                  <c:v>0.114</c:v>
                </c:pt>
                <c:pt idx="4">
                  <c:v>0.16</c:v>
                </c:pt>
                <c:pt idx="5">
                  <c:v>1</c:v>
                </c:pt>
                <c:pt idx="6">
                  <c:v>1</c:v>
                </c:pt>
                <c:pt idx="7">
                  <c:v>1</c:v>
                </c:pt>
                <c:pt idx="8">
                  <c:v>1</c:v>
                </c:pt>
                <c:pt idx="9">
                  <c:v>1</c:v>
                </c:pt>
                <c:pt idx="10">
                  <c:v>1</c:v>
                </c:pt>
                <c:pt idx="11">
                  <c:v>1</c:v>
                </c:pt>
                <c:pt idx="12">
                  <c:v>0.81299999999999994</c:v>
                </c:pt>
              </c:numCache>
            </c:numRef>
          </c:val>
          <c:extLst>
            <c:ext xmlns:c16="http://schemas.microsoft.com/office/drawing/2014/chart" uri="{C3380CC4-5D6E-409C-BE32-E72D297353CC}">
              <c16:uniqueId val="{00000000-4806-8846-9FD1-1EE6701BB11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5A5A"/>
                </a:solidFill>
                <a:latin typeface="Arial"/>
              </a:defRPr>
            </a:pPr>
            <a:endParaRPr lang="en-US"/>
          </a:p>
        </c:txPr>
        <c:crossAx val="2094734552"/>
        <c:crosses val="autoZero"/>
        <c:auto val="1"/>
        <c:lblAlgn val="ctr"/>
        <c:lblOffset val="100"/>
        <c:noMultiLvlLbl val="1"/>
      </c:catAx>
      <c:valAx>
        <c:axId val="2094734552"/>
        <c:scaling>
          <c:orientation val="minMax"/>
          <c:max val="1.1000000000000001"/>
        </c:scaling>
        <c:delete val="0"/>
        <c:axPos val="l"/>
        <c:majorGridlines>
          <c:spPr>
            <a:ln w="12700" cap="flat">
              <a:solidFill>
                <a:srgbClr val="E4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A5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1F3864"/>
                </a:solidFill>
                <a:latin typeface="Arial"/>
              </a:defRPr>
            </a:pPr>
            <a:r>
              <a:rPr lang="en-GB" sz="1250" b="0" i="0" u="none" strike="noStrike">
                <a:solidFill>
                  <a:srgbClr val="1F3864"/>
                </a:solidFill>
                <a:latin typeface="Arial"/>
              </a:rPr>
              <a:t>Top 5 Stores Contributing Most SLA Misses</a:t>
            </a:r>
          </a:p>
        </c:rich>
      </c:tx>
      <c:overlay val="0"/>
    </c:title>
    <c:autoTitleDeleted val="0"/>
    <c:plotArea>
      <c:layout/>
      <c:barChart>
        <c:barDir val="bar"/>
        <c:grouping val="clustered"/>
        <c:varyColors val="0"/>
        <c:ser>
          <c:idx val="0"/>
          <c:order val="0"/>
          <c:tx>
            <c:strRef>
              <c:f>Sheet1!$B$1</c:f>
              <c:strCache>
                <c:ptCount val="1"/>
                <c:pt idx="0">
                  <c:v>SLA Misses</c:v>
                </c:pt>
              </c:strCache>
            </c:strRef>
          </c:tx>
          <c:spPr>
            <a:solidFill>
              <a:srgbClr val="B02A2A"/>
            </a:solidFill>
            <a:effectLst/>
          </c:spPr>
          <c:invertIfNegative val="0"/>
          <c:cat>
            <c:strRef>
              <c:f>Sheet1!$A$2:$A$6</c:f>
              <c:strCache>
                <c:ptCount val="5"/>
                <c:pt idx="0">
                  <c:v>#647</c:v>
                </c:pt>
                <c:pt idx="1">
                  <c:v>#931</c:v>
                </c:pt>
                <c:pt idx="2">
                  <c:v>#715</c:v>
                </c:pt>
                <c:pt idx="3">
                  <c:v>#637</c:v>
                </c:pt>
                <c:pt idx="4">
                  <c:v>#544</c:v>
                </c:pt>
              </c:strCache>
            </c:strRef>
          </c:cat>
          <c:val>
            <c:numRef>
              <c:f>Sheet1!$B$2:$B$6</c:f>
              <c:numCache>
                <c:formatCode>General</c:formatCode>
                <c:ptCount val="5"/>
                <c:pt idx="0">
                  <c:v>10</c:v>
                </c:pt>
                <c:pt idx="1">
                  <c:v>7</c:v>
                </c:pt>
                <c:pt idx="2">
                  <c:v>6</c:v>
                </c:pt>
                <c:pt idx="3">
                  <c:v>6</c:v>
                </c:pt>
                <c:pt idx="4">
                  <c:v>6</c:v>
                </c:pt>
              </c:numCache>
            </c:numRef>
          </c:val>
          <c:extLst>
            <c:ext xmlns:c16="http://schemas.microsoft.com/office/drawing/2014/chart" uri="{C3380CC4-5D6E-409C-BE32-E72D297353CC}">
              <c16:uniqueId val="{00000000-5DD6-EE47-9727-543BB41DA9A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A5A5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4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5A5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F3864"/>
                </a:solidFill>
                <a:latin typeface="Arial"/>
              </a:defRPr>
            </a:pPr>
            <a:r>
              <a:rPr lang="en-GB" sz="1300" b="0" i="0" u="none" strike="noStrike">
                <a:solidFill>
                  <a:srgbClr val="1F3864"/>
                </a:solidFill>
                <a:latin typeface="Arial"/>
              </a:rPr>
              <a:t>Average Resolution Time by Month (Hrs)</a:t>
            </a:r>
          </a:p>
        </c:rich>
      </c:tx>
      <c:overlay val="0"/>
    </c:title>
    <c:autoTitleDeleted val="0"/>
    <c:plotArea>
      <c:layout/>
      <c:barChart>
        <c:barDir val="col"/>
        <c:grouping val="clustered"/>
        <c:varyColors val="0"/>
        <c:ser>
          <c:idx val="0"/>
          <c:order val="0"/>
          <c:tx>
            <c:strRef>
              <c:f>Sheet1!$B$1</c:f>
              <c:strCache>
                <c:ptCount val="1"/>
                <c:pt idx="0">
                  <c:v>Avg Resolution (Hrs)</c:v>
                </c:pt>
              </c:strCache>
            </c:strRef>
          </c:tx>
          <c:spPr>
            <a:solidFill>
              <a:srgbClr val="2E5395"/>
            </a:solidFill>
            <a:effectLst/>
          </c:spPr>
          <c:invertIfNegative val="0"/>
          <c:cat>
            <c:strRef>
              <c:f>Sheet1!$A$2:$A$14</c:f>
              <c:strCache>
                <c:ptCount val="13"/>
                <c:pt idx="0">
                  <c:v>Aug-25</c:v>
                </c:pt>
                <c:pt idx="1">
                  <c:v>Sep-25</c:v>
                </c:pt>
                <c:pt idx="2">
                  <c:v>Oct-25</c:v>
                </c:pt>
                <c:pt idx="3">
                  <c:v>Nov-25</c:v>
                </c:pt>
                <c:pt idx="4">
                  <c:v>Dec-25</c:v>
                </c:pt>
                <c:pt idx="5">
                  <c:v>Jan-26</c:v>
                </c:pt>
                <c:pt idx="6">
                  <c:v>Feb-26</c:v>
                </c:pt>
                <c:pt idx="7">
                  <c:v>Mar-26</c:v>
                </c:pt>
                <c:pt idx="8">
                  <c:v>Apr-26</c:v>
                </c:pt>
                <c:pt idx="9">
                  <c:v>May-26</c:v>
                </c:pt>
                <c:pt idx="10">
                  <c:v>Jun-26</c:v>
                </c:pt>
                <c:pt idx="11">
                  <c:v>Jul-26</c:v>
                </c:pt>
                <c:pt idx="12">
                  <c:v>Aug-26</c:v>
                </c:pt>
              </c:strCache>
            </c:strRef>
          </c:cat>
          <c:val>
            <c:numRef>
              <c:f>Sheet1!$B$2:$B$14</c:f>
              <c:numCache>
                <c:formatCode>General</c:formatCode>
                <c:ptCount val="13"/>
                <c:pt idx="0">
                  <c:v>32.299999999999997</c:v>
                </c:pt>
                <c:pt idx="1">
                  <c:v>42.7</c:v>
                </c:pt>
                <c:pt idx="2">
                  <c:v>41.2</c:v>
                </c:pt>
                <c:pt idx="3">
                  <c:v>59.3</c:v>
                </c:pt>
                <c:pt idx="4">
                  <c:v>23.1</c:v>
                </c:pt>
                <c:pt idx="5">
                  <c:v>23</c:v>
                </c:pt>
                <c:pt idx="6">
                  <c:v>11.8</c:v>
                </c:pt>
                <c:pt idx="7">
                  <c:v>31.5</c:v>
                </c:pt>
                <c:pt idx="8">
                  <c:v>16</c:v>
                </c:pt>
                <c:pt idx="9">
                  <c:v>21</c:v>
                </c:pt>
                <c:pt idx="10">
                  <c:v>30.9</c:v>
                </c:pt>
                <c:pt idx="11">
                  <c:v>30.2</c:v>
                </c:pt>
                <c:pt idx="12">
                  <c:v>10</c:v>
                </c:pt>
              </c:numCache>
            </c:numRef>
          </c:val>
          <c:extLst>
            <c:ext xmlns:c16="http://schemas.microsoft.com/office/drawing/2014/chart" uri="{C3380CC4-5D6E-409C-BE32-E72D297353CC}">
              <c16:uniqueId val="{00000000-64E2-2946-8001-662091E9D0C9}"/>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5A5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A5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3931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542"/>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640080"/>
          </a:xfrm>
          <a:prstGeom prst="rect">
            <a:avLst/>
          </a:prstGeom>
          <a:noFill/>
          <a:ln/>
        </p:spPr>
        <p:txBody>
          <a:bodyPr wrap="square" rtlCol="0" anchor="ctr"/>
          <a:lstStyle/>
          <a:p>
            <a:pPr marL="0" indent="0">
              <a:buNone/>
            </a:pPr>
            <a:r>
              <a:rPr lang="en-US" sz="1600" b="1" kern="0" spc="300" dirty="0">
                <a:solidFill>
                  <a:srgbClr val="CADCFC"/>
                </a:solidFill>
                <a:latin typeface="Arial" pitchFamily="34" charset="0"/>
                <a:ea typeface="Arial" pitchFamily="34" charset="-122"/>
                <a:cs typeface="Arial" pitchFamily="34" charset="-120"/>
              </a:rPr>
              <a:t>FRESH THYME</a:t>
            </a:r>
            <a:endParaRPr lang="en-US" sz="1600" dirty="0"/>
          </a:p>
        </p:txBody>
      </p:sp>
      <p:sp>
        <p:nvSpPr>
          <p:cNvPr id="3" name="Text 1"/>
          <p:cNvSpPr/>
          <p:nvPr/>
        </p:nvSpPr>
        <p:spPr>
          <a:xfrm>
            <a:off x="548640" y="960120"/>
            <a:ext cx="10058400" cy="822960"/>
          </a:xfrm>
          <a:prstGeom prst="rect">
            <a:avLst/>
          </a:prstGeom>
          <a:noFill/>
          <a:ln/>
        </p:spPr>
        <p:txBody>
          <a:bodyPr wrap="square" rtlCol="0" anchor="ctr"/>
          <a:lstStyle/>
          <a:p>
            <a:pPr marL="0" indent="0">
              <a:buNone/>
            </a:pPr>
            <a:r>
              <a:rPr lang="en-US" sz="3400" b="1" dirty="0">
                <a:solidFill>
                  <a:srgbClr val="FFFFFF"/>
                </a:solidFill>
                <a:latin typeface="Arial" pitchFamily="34" charset="0"/>
                <a:ea typeface="Arial" pitchFamily="34" charset="-122"/>
                <a:cs typeface="Arial" pitchFamily="34" charset="-120"/>
              </a:rPr>
              <a:t>YTD Operations / SLA Performance Report</a:t>
            </a:r>
            <a:endParaRPr lang="en-US" sz="3400" dirty="0"/>
          </a:p>
        </p:txBody>
      </p:sp>
      <p:sp>
        <p:nvSpPr>
          <p:cNvPr id="4" name="Text 2"/>
          <p:cNvSpPr/>
          <p:nvPr/>
        </p:nvSpPr>
        <p:spPr>
          <a:xfrm>
            <a:off x="548640" y="1600200"/>
            <a:ext cx="10515600" cy="365760"/>
          </a:xfrm>
          <a:prstGeom prst="rect">
            <a:avLst/>
          </a:prstGeom>
          <a:noFill/>
          <a:ln/>
        </p:spPr>
        <p:txBody>
          <a:bodyPr wrap="square" rtlCol="0" anchor="ctr"/>
          <a:lstStyle/>
          <a:p>
            <a:pPr marL="0" indent="0">
              <a:buNone/>
            </a:pPr>
            <a:r>
              <a:rPr lang="en-US" sz="1300" i="1" dirty="0">
                <a:solidFill>
                  <a:srgbClr val="CADCFC"/>
                </a:solidFill>
                <a:latin typeface="Arial" pitchFamily="34" charset="0"/>
                <a:ea typeface="Arial" pitchFamily="34" charset="-122"/>
                <a:cs typeface="Arial" pitchFamily="34" charset="-120"/>
              </a:rPr>
              <a:t>Field Service SLA Analysis  •  Period: Aug 2025 – Aug 2026  •  Vendor: NCR  •  Account: Meijer Inc. (Fresh Thyme banner, 69 stores)</a:t>
            </a:r>
            <a:endParaRPr lang="en-US" sz="1300" dirty="0"/>
          </a:p>
        </p:txBody>
      </p:sp>
      <p:sp>
        <p:nvSpPr>
          <p:cNvPr id="5" name="Shape 3"/>
          <p:cNvSpPr/>
          <p:nvPr/>
        </p:nvSpPr>
        <p:spPr>
          <a:xfrm>
            <a:off x="548640" y="2240280"/>
            <a:ext cx="2606040" cy="1417320"/>
          </a:xfrm>
          <a:prstGeom prst="rect">
            <a:avLst/>
          </a:prstGeom>
          <a:solidFill>
            <a:srgbClr val="223259"/>
          </a:solidFill>
          <a:ln w="12700">
            <a:solidFill>
              <a:srgbClr val="35477A"/>
            </a:solidFill>
            <a:prstDash val="solid"/>
          </a:ln>
        </p:spPr>
      </p:sp>
      <p:sp>
        <p:nvSpPr>
          <p:cNvPr id="6" name="Text 4"/>
          <p:cNvSpPr/>
          <p:nvPr/>
        </p:nvSpPr>
        <p:spPr>
          <a:xfrm>
            <a:off x="731520" y="2377440"/>
            <a:ext cx="2240280" cy="320040"/>
          </a:xfrm>
          <a:prstGeom prst="rect">
            <a:avLst/>
          </a:prstGeom>
          <a:noFill/>
          <a:ln/>
        </p:spPr>
        <p:txBody>
          <a:bodyPr wrap="square" rtlCol="0" anchor="ctr"/>
          <a:lstStyle/>
          <a:p>
            <a:pPr marL="0" indent="0">
              <a:buNone/>
            </a:pPr>
            <a:r>
              <a:rPr lang="en-US" sz="1000" b="1" dirty="0">
                <a:solidFill>
                  <a:srgbClr val="CADCFC"/>
                </a:solidFill>
                <a:latin typeface="Arial" pitchFamily="34" charset="0"/>
                <a:ea typeface="Arial" pitchFamily="34" charset="-122"/>
                <a:cs typeface="Arial" pitchFamily="34" charset="-120"/>
              </a:rPr>
              <a:t>YTD ADJUSTED SLA</a:t>
            </a:r>
            <a:endParaRPr lang="en-US" sz="1000" dirty="0"/>
          </a:p>
        </p:txBody>
      </p:sp>
      <p:sp>
        <p:nvSpPr>
          <p:cNvPr id="7" name="Text 5"/>
          <p:cNvSpPr/>
          <p:nvPr/>
        </p:nvSpPr>
        <p:spPr>
          <a:xfrm>
            <a:off x="731520" y="2697480"/>
            <a:ext cx="2240280" cy="822960"/>
          </a:xfrm>
          <a:prstGeom prst="rect">
            <a:avLst/>
          </a:prstGeom>
          <a:noFill/>
          <a:ln/>
        </p:spPr>
        <p:txBody>
          <a:bodyPr wrap="square" rtlCol="0" anchor="ctr"/>
          <a:lstStyle/>
          <a:p>
            <a:pPr marL="0" indent="0">
              <a:buNone/>
            </a:pPr>
            <a:r>
              <a:rPr lang="en-US" sz="3400" b="1" dirty="0">
                <a:solidFill>
                  <a:srgbClr val="1E7A34"/>
                </a:solidFill>
                <a:latin typeface="Arial" pitchFamily="34" charset="0"/>
                <a:ea typeface="Arial" pitchFamily="34" charset="-122"/>
                <a:cs typeface="Arial" pitchFamily="34" charset="-120"/>
              </a:rPr>
              <a:t>77.5%</a:t>
            </a:r>
            <a:endParaRPr lang="en-US" sz="3400" dirty="0"/>
          </a:p>
        </p:txBody>
      </p:sp>
      <p:sp>
        <p:nvSpPr>
          <p:cNvPr id="8" name="Shape 6"/>
          <p:cNvSpPr/>
          <p:nvPr/>
        </p:nvSpPr>
        <p:spPr>
          <a:xfrm>
            <a:off x="3383280" y="2240280"/>
            <a:ext cx="2606040" cy="1417320"/>
          </a:xfrm>
          <a:prstGeom prst="rect">
            <a:avLst/>
          </a:prstGeom>
          <a:solidFill>
            <a:srgbClr val="223259"/>
          </a:solidFill>
          <a:ln w="12700">
            <a:solidFill>
              <a:srgbClr val="35477A"/>
            </a:solidFill>
            <a:prstDash val="solid"/>
          </a:ln>
        </p:spPr>
      </p:sp>
      <p:sp>
        <p:nvSpPr>
          <p:cNvPr id="9" name="Text 7"/>
          <p:cNvSpPr/>
          <p:nvPr/>
        </p:nvSpPr>
        <p:spPr>
          <a:xfrm>
            <a:off x="3566160" y="2377440"/>
            <a:ext cx="2240280" cy="320040"/>
          </a:xfrm>
          <a:prstGeom prst="rect">
            <a:avLst/>
          </a:prstGeom>
          <a:noFill/>
          <a:ln/>
        </p:spPr>
        <p:txBody>
          <a:bodyPr wrap="square" rtlCol="0" anchor="ctr"/>
          <a:lstStyle/>
          <a:p>
            <a:pPr marL="0" indent="0">
              <a:buNone/>
            </a:pPr>
            <a:r>
              <a:rPr lang="en-US" sz="1000" b="1" dirty="0">
                <a:solidFill>
                  <a:srgbClr val="CADCFC"/>
                </a:solidFill>
                <a:latin typeface="Arial" pitchFamily="34" charset="0"/>
                <a:ea typeface="Arial" pitchFamily="34" charset="-122"/>
                <a:cs typeface="Arial" pitchFamily="34" charset="-120"/>
              </a:rPr>
              <a:t>SLA-ELIGIBLE TICKETS</a:t>
            </a:r>
            <a:endParaRPr lang="en-US" sz="1000" dirty="0"/>
          </a:p>
        </p:txBody>
      </p:sp>
      <p:sp>
        <p:nvSpPr>
          <p:cNvPr id="10" name="Text 8"/>
          <p:cNvSpPr/>
          <p:nvPr/>
        </p:nvSpPr>
        <p:spPr>
          <a:xfrm>
            <a:off x="3566160" y="2697480"/>
            <a:ext cx="2240280" cy="822960"/>
          </a:xfrm>
          <a:prstGeom prst="rect">
            <a:avLst/>
          </a:prstGeom>
          <a:noFill/>
          <a:ln/>
        </p:spPr>
        <p:txBody>
          <a:bodyPr wrap="square" rtlCol="0" anchor="ctr"/>
          <a:lstStyle/>
          <a:p>
            <a:pPr marL="0" indent="0">
              <a:buNone/>
            </a:pPr>
            <a:r>
              <a:rPr lang="en-US" sz="3400" b="1" dirty="0">
                <a:solidFill>
                  <a:srgbClr val="FFFFFF"/>
                </a:solidFill>
                <a:latin typeface="Arial" pitchFamily="34" charset="0"/>
                <a:ea typeface="Arial" pitchFamily="34" charset="-122"/>
                <a:cs typeface="Arial" pitchFamily="34" charset="-120"/>
              </a:rPr>
              <a:t>435</a:t>
            </a:r>
            <a:endParaRPr lang="en-US" sz="3400" dirty="0"/>
          </a:p>
        </p:txBody>
      </p:sp>
      <p:sp>
        <p:nvSpPr>
          <p:cNvPr id="11" name="Shape 9"/>
          <p:cNvSpPr/>
          <p:nvPr/>
        </p:nvSpPr>
        <p:spPr>
          <a:xfrm>
            <a:off x="6217920" y="2240280"/>
            <a:ext cx="2606040" cy="1417320"/>
          </a:xfrm>
          <a:prstGeom prst="rect">
            <a:avLst/>
          </a:prstGeom>
          <a:solidFill>
            <a:srgbClr val="223259"/>
          </a:solidFill>
          <a:ln w="12700">
            <a:solidFill>
              <a:srgbClr val="35477A"/>
            </a:solidFill>
            <a:prstDash val="solid"/>
          </a:ln>
        </p:spPr>
      </p:sp>
      <p:sp>
        <p:nvSpPr>
          <p:cNvPr id="12" name="Text 10"/>
          <p:cNvSpPr/>
          <p:nvPr/>
        </p:nvSpPr>
        <p:spPr>
          <a:xfrm>
            <a:off x="6400800" y="2377440"/>
            <a:ext cx="2240280" cy="320040"/>
          </a:xfrm>
          <a:prstGeom prst="rect">
            <a:avLst/>
          </a:prstGeom>
          <a:noFill/>
          <a:ln/>
        </p:spPr>
        <p:txBody>
          <a:bodyPr wrap="square" rtlCol="0" anchor="ctr"/>
          <a:lstStyle/>
          <a:p>
            <a:pPr marL="0" indent="0">
              <a:buNone/>
            </a:pPr>
            <a:r>
              <a:rPr lang="en-US" sz="1000" b="1" dirty="0">
                <a:solidFill>
                  <a:srgbClr val="CADCFC"/>
                </a:solidFill>
                <a:latin typeface="Arial" pitchFamily="34" charset="0"/>
                <a:ea typeface="Arial" pitchFamily="34" charset="-122"/>
                <a:cs typeface="Arial" pitchFamily="34" charset="-120"/>
              </a:rPr>
              <a:t>TOTAL TICKETS</a:t>
            </a:r>
            <a:endParaRPr lang="en-US" sz="1000" dirty="0"/>
          </a:p>
        </p:txBody>
      </p:sp>
      <p:sp>
        <p:nvSpPr>
          <p:cNvPr id="13" name="Text 11"/>
          <p:cNvSpPr/>
          <p:nvPr/>
        </p:nvSpPr>
        <p:spPr>
          <a:xfrm>
            <a:off x="6400800" y="2697480"/>
            <a:ext cx="2240280" cy="822960"/>
          </a:xfrm>
          <a:prstGeom prst="rect">
            <a:avLst/>
          </a:prstGeom>
          <a:noFill/>
          <a:ln/>
        </p:spPr>
        <p:txBody>
          <a:bodyPr wrap="square" rtlCol="0" anchor="ctr"/>
          <a:lstStyle/>
          <a:p>
            <a:pPr marL="0" indent="0">
              <a:buNone/>
            </a:pPr>
            <a:r>
              <a:rPr lang="en-US" sz="3400" b="1" dirty="0">
                <a:solidFill>
                  <a:srgbClr val="FFFFFF"/>
                </a:solidFill>
                <a:latin typeface="Arial" pitchFamily="34" charset="0"/>
                <a:ea typeface="Arial" pitchFamily="34" charset="-122"/>
                <a:cs typeface="Arial" pitchFamily="34" charset="-120"/>
              </a:rPr>
              <a:t>569</a:t>
            </a:r>
            <a:endParaRPr lang="en-US" sz="3400" dirty="0"/>
          </a:p>
        </p:txBody>
      </p:sp>
      <p:sp>
        <p:nvSpPr>
          <p:cNvPr id="14" name="Shape 12"/>
          <p:cNvSpPr/>
          <p:nvPr/>
        </p:nvSpPr>
        <p:spPr>
          <a:xfrm>
            <a:off x="9052560" y="2240280"/>
            <a:ext cx="2606040" cy="1417320"/>
          </a:xfrm>
          <a:prstGeom prst="rect">
            <a:avLst/>
          </a:prstGeom>
          <a:solidFill>
            <a:srgbClr val="223259"/>
          </a:solidFill>
          <a:ln w="12700">
            <a:solidFill>
              <a:srgbClr val="35477A"/>
            </a:solidFill>
            <a:prstDash val="solid"/>
          </a:ln>
        </p:spPr>
      </p:sp>
      <p:sp>
        <p:nvSpPr>
          <p:cNvPr id="15" name="Text 13"/>
          <p:cNvSpPr/>
          <p:nvPr/>
        </p:nvSpPr>
        <p:spPr>
          <a:xfrm>
            <a:off x="9235440" y="2377440"/>
            <a:ext cx="2240280" cy="320040"/>
          </a:xfrm>
          <a:prstGeom prst="rect">
            <a:avLst/>
          </a:prstGeom>
          <a:noFill/>
          <a:ln/>
        </p:spPr>
        <p:txBody>
          <a:bodyPr wrap="square" rtlCol="0" anchor="ctr"/>
          <a:lstStyle/>
          <a:p>
            <a:pPr marL="0" indent="0">
              <a:buNone/>
            </a:pPr>
            <a:r>
              <a:rPr lang="en-US" sz="1000" b="1" dirty="0">
                <a:solidFill>
                  <a:srgbClr val="CADCFC"/>
                </a:solidFill>
                <a:latin typeface="Arial" pitchFamily="34" charset="0"/>
                <a:ea typeface="Arial" pitchFamily="34" charset="-122"/>
                <a:cs typeface="Arial" pitchFamily="34" charset="-120"/>
              </a:rPr>
              <a:t>EXCEPTIONS (CCR)</a:t>
            </a:r>
            <a:endParaRPr lang="en-US" sz="1000" dirty="0"/>
          </a:p>
        </p:txBody>
      </p:sp>
      <p:sp>
        <p:nvSpPr>
          <p:cNvPr id="16" name="Text 14"/>
          <p:cNvSpPr/>
          <p:nvPr/>
        </p:nvSpPr>
        <p:spPr>
          <a:xfrm>
            <a:off x="9235440" y="2697480"/>
            <a:ext cx="2240280" cy="822960"/>
          </a:xfrm>
          <a:prstGeom prst="rect">
            <a:avLst/>
          </a:prstGeom>
          <a:noFill/>
          <a:ln/>
        </p:spPr>
        <p:txBody>
          <a:bodyPr wrap="square" rtlCol="0" anchor="ctr"/>
          <a:lstStyle/>
          <a:p>
            <a:pPr marL="0" indent="0">
              <a:buNone/>
            </a:pPr>
            <a:r>
              <a:rPr lang="en-US" sz="3400" b="1" dirty="0">
                <a:solidFill>
                  <a:srgbClr val="B8860B"/>
                </a:solidFill>
                <a:latin typeface="Arial" pitchFamily="34" charset="0"/>
                <a:ea typeface="Arial" pitchFamily="34" charset="-122"/>
                <a:cs typeface="Arial" pitchFamily="34" charset="-120"/>
              </a:rPr>
              <a:t>62.0%</a:t>
            </a:r>
            <a:endParaRPr lang="en-US" sz="3400" dirty="0"/>
          </a:p>
        </p:txBody>
      </p:sp>
      <p:sp>
        <p:nvSpPr>
          <p:cNvPr id="17" name="Text 15"/>
          <p:cNvSpPr/>
          <p:nvPr/>
        </p:nvSpPr>
        <p:spPr>
          <a:xfrm>
            <a:off x="548640" y="3977640"/>
            <a:ext cx="5486400" cy="36576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Where things stand</a:t>
            </a:r>
            <a:endParaRPr lang="en-US" sz="1600" dirty="0"/>
          </a:p>
        </p:txBody>
      </p:sp>
      <p:sp>
        <p:nvSpPr>
          <p:cNvPr id="18" name="Text 16"/>
          <p:cNvSpPr/>
          <p:nvPr/>
        </p:nvSpPr>
        <p:spPr>
          <a:xfrm>
            <a:off x="548640" y="4389120"/>
            <a:ext cx="10607040" cy="1965960"/>
          </a:xfrm>
          <a:prstGeom prst="rect">
            <a:avLst/>
          </a:prstGeom>
          <a:noFill/>
          <a:ln/>
        </p:spPr>
        <p:txBody>
          <a:bodyPr wrap="square" rtlCol="0" anchor="t"/>
          <a:lstStyle/>
          <a:p>
            <a:pPr marL="228600" indent="-228600">
              <a:lnSpc>
                <a:spcPts val="1800"/>
              </a:lnSpc>
              <a:spcAft>
                <a:spcPts val="1000"/>
              </a:spcAft>
              <a:buSzPct val="100000"/>
              <a:buChar char="•"/>
            </a:pPr>
            <a:r>
              <a:rPr lang="en-US" sz="1300" dirty="0">
                <a:solidFill>
                  <a:srgbClr val="E6EBF5"/>
                </a:solidFill>
                <a:latin typeface="Arial" pitchFamily="34" charset="0"/>
                <a:ea typeface="Arial" pitchFamily="34" charset="-122"/>
                <a:cs typeface="Arial" pitchFamily="34" charset="-120"/>
              </a:rPr>
              <a:t>YTD Adjusted / Opportunity SLA performance is 77.5% (337 of 435 SLA-eligible tickets met) — the mitigation-adjusted figure requested for management reporting.</a:t>
            </a:r>
            <a:endParaRPr lang="en-US" sz="1300" dirty="0"/>
          </a:p>
          <a:p>
            <a:pPr marL="228600" indent="-228600">
              <a:lnSpc>
                <a:spcPts val="1800"/>
              </a:lnSpc>
              <a:spcAft>
                <a:spcPts val="1000"/>
              </a:spcAft>
              <a:buSzPct val="100000"/>
              <a:buChar char="•"/>
            </a:pPr>
            <a:r>
              <a:rPr lang="en-US" sz="1300" dirty="0">
                <a:solidFill>
                  <a:srgbClr val="E6EBF5"/>
                </a:solidFill>
                <a:latin typeface="Arial" pitchFamily="34" charset="0"/>
                <a:ea typeface="Arial" pitchFamily="34" charset="-122"/>
                <a:cs typeface="Arial" pitchFamily="34" charset="-120"/>
              </a:rPr>
              <a:t>62% of all tickets (353 of 569) carry a “Customer Contracted Reasons” exception — and that rate jumped from ~15% pre-2026 to effectively 100% every month since January 2026. See slide 3.</a:t>
            </a:r>
            <a:endParaRPr lang="en-US" sz="1300" dirty="0"/>
          </a:p>
          <a:p>
            <a:pPr marL="228600" indent="-228600">
              <a:lnSpc>
                <a:spcPts val="1800"/>
              </a:lnSpc>
              <a:spcAft>
                <a:spcPts val="1000"/>
              </a:spcAft>
              <a:buSzPct val="100000"/>
              <a:buChar char="•"/>
            </a:pPr>
            <a:r>
              <a:rPr lang="en-US" sz="1300" dirty="0">
                <a:solidFill>
                  <a:srgbClr val="E6EBF5"/>
                </a:solidFill>
                <a:latin typeface="Arial" pitchFamily="34" charset="0"/>
                <a:ea typeface="Arial" pitchFamily="34" charset="-122"/>
                <a:cs typeface="Arial" pitchFamily="34" charset="-120"/>
              </a:rPr>
              <a:t>November 2025 (39.3%) and June 2026 (60.0%) were the weakest months; February–April and August 2026 ran at or near 100%.</a:t>
            </a:r>
            <a:endParaRPr lang="en-US" sz="1300" dirty="0"/>
          </a:p>
          <a:p>
            <a:pPr marL="228600" indent="-228600">
              <a:lnSpc>
                <a:spcPts val="1800"/>
              </a:lnSpc>
              <a:spcAft>
                <a:spcPts val="1000"/>
              </a:spcAft>
              <a:buSzPct val="100000"/>
              <a:buChar char="•"/>
            </a:pPr>
            <a:r>
              <a:rPr lang="en-US" sz="1300" dirty="0">
                <a:solidFill>
                  <a:srgbClr val="E6EBF5"/>
                </a:solidFill>
                <a:latin typeface="Arial" pitchFamily="34" charset="0"/>
                <a:ea typeface="Arial" pitchFamily="34" charset="-122"/>
                <a:cs typeface="Arial" pitchFamily="34" charset="-120"/>
              </a:rPr>
              <a:t>A small number of stores and technicians account for a disproportionate share of misses — see slides 5 and 6 for the priority list.</a:t>
            </a:r>
            <a:endParaRPr lang="en-US" sz="1300" dirty="0"/>
          </a:p>
        </p:txBody>
      </p:sp>
      <p:sp>
        <p:nvSpPr>
          <p:cNvPr id="19" name="Text 17"/>
          <p:cNvSpPr/>
          <p:nvPr/>
        </p:nvSpPr>
        <p:spPr>
          <a:xfrm>
            <a:off x="457200" y="6537960"/>
            <a:ext cx="9601200" cy="274320"/>
          </a:xfrm>
          <a:prstGeom prst="rect">
            <a:avLst/>
          </a:prstGeom>
          <a:noFill/>
          <a:ln/>
        </p:spPr>
        <p:txBody>
          <a:bodyPr wrap="square" rtlCol="0" anchor="ctr"/>
          <a:lstStyle/>
          <a:p>
            <a:pPr marL="0" indent="0" algn="l">
              <a:buNone/>
            </a:pPr>
            <a:r>
              <a:rPr lang="en-US" sz="800" dirty="0">
                <a:solidFill>
                  <a:srgbClr val="8FA3C7"/>
                </a:solidFill>
                <a:latin typeface="Arial" pitchFamily="34" charset="0"/>
                <a:ea typeface="Arial" pitchFamily="34" charset="-122"/>
                <a:cs typeface="Arial" pitchFamily="34" charset="-120"/>
              </a:rPr>
              <a:t>Fresh Thyme YTD SLA Performance Report  |  Aug 2025 – Aug 2026  |  Vendor: NCR  |  Account: Meijer Inc.</a:t>
            </a:r>
            <a:endParaRPr lang="en-US" sz="800" dirty="0"/>
          </a:p>
        </p:txBody>
      </p:sp>
      <p:sp>
        <p:nvSpPr>
          <p:cNvPr id="20" name="Text 18"/>
          <p:cNvSpPr/>
          <p:nvPr/>
        </p:nvSpPr>
        <p:spPr>
          <a:xfrm>
            <a:off x="11521440" y="6537960"/>
            <a:ext cx="457200" cy="274320"/>
          </a:xfrm>
          <a:prstGeom prst="rect">
            <a:avLst/>
          </a:prstGeom>
          <a:noFill/>
          <a:ln/>
        </p:spPr>
        <p:txBody>
          <a:bodyPr wrap="square" rtlCol="0" anchor="ctr"/>
          <a:lstStyle/>
          <a:p>
            <a:pPr marL="0" indent="0" algn="r">
              <a:buNone/>
            </a:pPr>
            <a:r>
              <a:rPr lang="en-US" sz="800" dirty="0">
                <a:solidFill>
                  <a:srgbClr val="8FA3C7"/>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SLA Performance</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300" i="1" dirty="0">
                <a:solidFill>
                  <a:srgbClr val="5A5A5A"/>
                </a:solidFill>
                <a:latin typeface="Arial" pitchFamily="34" charset="0"/>
                <a:ea typeface="Arial" pitchFamily="34" charset="-122"/>
                <a:cs typeface="Arial" pitchFamily="34" charset="-120"/>
              </a:rPr>
              <a:t>Monthly SLA % trend vs. YTD performance — Adjusted / Opportunity basis</a:t>
            </a:r>
            <a:endParaRPr lang="en-US" sz="1300" dirty="0"/>
          </a:p>
        </p:txBody>
      </p:sp>
      <p:sp>
        <p:nvSpPr>
          <p:cNvPr id="4" name="Shape 2"/>
          <p:cNvSpPr/>
          <p:nvPr/>
        </p:nvSpPr>
        <p:spPr>
          <a:xfrm>
            <a:off x="457200" y="1325880"/>
            <a:ext cx="2331720" cy="1143000"/>
          </a:xfrm>
          <a:prstGeom prst="rect">
            <a:avLst/>
          </a:prstGeom>
          <a:solidFill>
            <a:srgbClr val="F4F6FB"/>
          </a:solidFill>
          <a:ln w="12700">
            <a:solidFill>
              <a:srgbClr val="E1E6F0"/>
            </a:solidFill>
            <a:prstDash val="solid"/>
          </a:ln>
        </p:spPr>
      </p:sp>
      <p:sp>
        <p:nvSpPr>
          <p:cNvPr id="5" name="Shape 3"/>
          <p:cNvSpPr/>
          <p:nvPr/>
        </p:nvSpPr>
        <p:spPr>
          <a:xfrm>
            <a:off x="457200" y="1325880"/>
            <a:ext cx="45720" cy="1143000"/>
          </a:xfrm>
          <a:prstGeom prst="rect">
            <a:avLst/>
          </a:prstGeom>
          <a:solidFill>
            <a:srgbClr val="1E7A34"/>
          </a:solidFill>
          <a:ln/>
        </p:spPr>
      </p:sp>
      <p:sp>
        <p:nvSpPr>
          <p:cNvPr id="6" name="Text 4"/>
          <p:cNvSpPr/>
          <p:nvPr/>
        </p:nvSpPr>
        <p:spPr>
          <a:xfrm>
            <a:off x="621792" y="1435608"/>
            <a:ext cx="2057400" cy="274320"/>
          </a:xfrm>
          <a:prstGeom prst="rect">
            <a:avLst/>
          </a:prstGeom>
          <a:noFill/>
          <a:ln/>
        </p:spPr>
        <p:txBody>
          <a:bodyPr wrap="square" rtlCol="0" anchor="ctr"/>
          <a:lstStyle/>
          <a:p>
            <a:pPr marL="0" indent="0">
              <a:buNone/>
            </a:pPr>
            <a:r>
              <a:rPr lang="en-US" sz="950" b="1" dirty="0">
                <a:solidFill>
                  <a:srgbClr val="5A5A5A"/>
                </a:solidFill>
                <a:latin typeface="Arial" pitchFamily="34" charset="0"/>
                <a:ea typeface="Arial" pitchFamily="34" charset="-122"/>
                <a:cs typeface="Arial" pitchFamily="34" charset="-120"/>
              </a:rPr>
              <a:t>YTD SLA %</a:t>
            </a:r>
            <a:endParaRPr lang="en-US" sz="950" dirty="0"/>
          </a:p>
        </p:txBody>
      </p:sp>
      <p:sp>
        <p:nvSpPr>
          <p:cNvPr id="7" name="Text 5"/>
          <p:cNvSpPr/>
          <p:nvPr/>
        </p:nvSpPr>
        <p:spPr>
          <a:xfrm>
            <a:off x="621792" y="1691640"/>
            <a:ext cx="2057400" cy="548640"/>
          </a:xfrm>
          <a:prstGeom prst="rect">
            <a:avLst/>
          </a:prstGeom>
          <a:noFill/>
          <a:ln/>
        </p:spPr>
        <p:txBody>
          <a:bodyPr wrap="square" rtlCol="0" anchor="ctr"/>
          <a:lstStyle/>
          <a:p>
            <a:pPr marL="0" indent="0">
              <a:buNone/>
            </a:pPr>
            <a:r>
              <a:rPr lang="en-US" sz="3000" b="1" dirty="0">
                <a:solidFill>
                  <a:srgbClr val="1E7A34"/>
                </a:solidFill>
                <a:latin typeface="Arial" pitchFamily="34" charset="0"/>
                <a:ea typeface="Arial" pitchFamily="34" charset="-122"/>
                <a:cs typeface="Arial" pitchFamily="34" charset="-120"/>
              </a:rPr>
              <a:t>77.5%</a:t>
            </a:r>
            <a:endParaRPr lang="en-US" sz="3000" dirty="0"/>
          </a:p>
        </p:txBody>
      </p:sp>
      <p:sp>
        <p:nvSpPr>
          <p:cNvPr id="8" name="Text 6"/>
          <p:cNvSpPr/>
          <p:nvPr/>
        </p:nvSpPr>
        <p:spPr>
          <a:xfrm>
            <a:off x="621792" y="2176272"/>
            <a:ext cx="2057400" cy="256032"/>
          </a:xfrm>
          <a:prstGeom prst="rect">
            <a:avLst/>
          </a:prstGeom>
          <a:noFill/>
          <a:ln/>
        </p:spPr>
        <p:txBody>
          <a:bodyPr wrap="square" rtlCol="0" anchor="ctr"/>
          <a:lstStyle/>
          <a:p>
            <a:pPr marL="0" indent="0">
              <a:buNone/>
            </a:pPr>
            <a:r>
              <a:rPr lang="en-US" sz="900" i="1" dirty="0">
                <a:solidFill>
                  <a:srgbClr val="5A5A5A"/>
                </a:solidFill>
                <a:latin typeface="Arial" pitchFamily="34" charset="0"/>
                <a:ea typeface="Arial" pitchFamily="34" charset="-122"/>
                <a:cs typeface="Arial" pitchFamily="34" charset="-120"/>
              </a:rPr>
              <a:t>337 of 435 eligible tickets met</a:t>
            </a:r>
            <a:endParaRPr lang="en-US" sz="900" dirty="0"/>
          </a:p>
        </p:txBody>
      </p:sp>
      <p:sp>
        <p:nvSpPr>
          <p:cNvPr id="9" name="Shape 7"/>
          <p:cNvSpPr/>
          <p:nvPr/>
        </p:nvSpPr>
        <p:spPr>
          <a:xfrm>
            <a:off x="2926080" y="1325880"/>
            <a:ext cx="2331720" cy="1143000"/>
          </a:xfrm>
          <a:prstGeom prst="rect">
            <a:avLst/>
          </a:prstGeom>
          <a:solidFill>
            <a:srgbClr val="F4F6FB"/>
          </a:solidFill>
          <a:ln w="12700">
            <a:solidFill>
              <a:srgbClr val="E1E6F0"/>
            </a:solidFill>
            <a:prstDash val="solid"/>
          </a:ln>
        </p:spPr>
      </p:sp>
      <p:sp>
        <p:nvSpPr>
          <p:cNvPr id="10" name="Shape 8"/>
          <p:cNvSpPr/>
          <p:nvPr/>
        </p:nvSpPr>
        <p:spPr>
          <a:xfrm>
            <a:off x="2926080" y="1325880"/>
            <a:ext cx="45720" cy="1143000"/>
          </a:xfrm>
          <a:prstGeom prst="rect">
            <a:avLst/>
          </a:prstGeom>
          <a:solidFill>
            <a:srgbClr val="1E7A34"/>
          </a:solidFill>
          <a:ln/>
        </p:spPr>
      </p:sp>
      <p:sp>
        <p:nvSpPr>
          <p:cNvPr id="11" name="Text 9"/>
          <p:cNvSpPr/>
          <p:nvPr/>
        </p:nvSpPr>
        <p:spPr>
          <a:xfrm>
            <a:off x="3090672" y="1435608"/>
            <a:ext cx="2057400" cy="274320"/>
          </a:xfrm>
          <a:prstGeom prst="rect">
            <a:avLst/>
          </a:prstGeom>
          <a:noFill/>
          <a:ln/>
        </p:spPr>
        <p:txBody>
          <a:bodyPr wrap="square" rtlCol="0" anchor="ctr"/>
          <a:lstStyle/>
          <a:p>
            <a:pPr marL="0" indent="0">
              <a:buNone/>
            </a:pPr>
            <a:r>
              <a:rPr lang="en-US" sz="950" b="1" dirty="0">
                <a:solidFill>
                  <a:srgbClr val="5A5A5A"/>
                </a:solidFill>
                <a:latin typeface="Arial" pitchFamily="34" charset="0"/>
                <a:ea typeface="Arial" pitchFamily="34" charset="-122"/>
                <a:cs typeface="Arial" pitchFamily="34" charset="-120"/>
              </a:rPr>
              <a:t>STRONGEST MONTH</a:t>
            </a:r>
            <a:endParaRPr lang="en-US" sz="950" dirty="0"/>
          </a:p>
        </p:txBody>
      </p:sp>
      <p:sp>
        <p:nvSpPr>
          <p:cNvPr id="12" name="Text 10"/>
          <p:cNvSpPr/>
          <p:nvPr/>
        </p:nvSpPr>
        <p:spPr>
          <a:xfrm>
            <a:off x="3090672" y="1691640"/>
            <a:ext cx="2057400" cy="548640"/>
          </a:xfrm>
          <a:prstGeom prst="rect">
            <a:avLst/>
          </a:prstGeom>
          <a:noFill/>
          <a:ln/>
        </p:spPr>
        <p:txBody>
          <a:bodyPr wrap="square" rtlCol="0" anchor="ctr"/>
          <a:lstStyle/>
          <a:p>
            <a:pPr marL="0" indent="0">
              <a:buNone/>
            </a:pPr>
            <a:r>
              <a:rPr lang="en-US" sz="3000" b="1" dirty="0">
                <a:solidFill>
                  <a:srgbClr val="1E7A34"/>
                </a:solidFill>
                <a:latin typeface="Arial" pitchFamily="34" charset="0"/>
                <a:ea typeface="Arial" pitchFamily="34" charset="-122"/>
                <a:cs typeface="Arial" pitchFamily="34" charset="-120"/>
              </a:rPr>
              <a:t>Feb 2026</a:t>
            </a:r>
            <a:endParaRPr lang="en-US" sz="3000" dirty="0"/>
          </a:p>
        </p:txBody>
      </p:sp>
      <p:sp>
        <p:nvSpPr>
          <p:cNvPr id="13" name="Text 11"/>
          <p:cNvSpPr/>
          <p:nvPr/>
        </p:nvSpPr>
        <p:spPr>
          <a:xfrm>
            <a:off x="3090672" y="2176272"/>
            <a:ext cx="2057400" cy="256032"/>
          </a:xfrm>
          <a:prstGeom prst="rect">
            <a:avLst/>
          </a:prstGeom>
          <a:noFill/>
          <a:ln/>
        </p:spPr>
        <p:txBody>
          <a:bodyPr wrap="square" rtlCol="0" anchor="ctr"/>
          <a:lstStyle/>
          <a:p>
            <a:pPr marL="0" indent="0">
              <a:buNone/>
            </a:pPr>
            <a:r>
              <a:rPr lang="en-US" sz="900" i="1" dirty="0">
                <a:solidFill>
                  <a:srgbClr val="5A5A5A"/>
                </a:solidFill>
                <a:latin typeface="Arial" pitchFamily="34" charset="0"/>
                <a:ea typeface="Arial" pitchFamily="34" charset="-122"/>
                <a:cs typeface="Arial" pitchFamily="34" charset="-120"/>
              </a:rPr>
              <a:t>100.0% SLA (40 of 40)</a:t>
            </a:r>
            <a:endParaRPr lang="en-US" sz="900" dirty="0"/>
          </a:p>
        </p:txBody>
      </p:sp>
      <p:sp>
        <p:nvSpPr>
          <p:cNvPr id="14" name="Shape 12"/>
          <p:cNvSpPr/>
          <p:nvPr/>
        </p:nvSpPr>
        <p:spPr>
          <a:xfrm>
            <a:off x="5394960" y="1325880"/>
            <a:ext cx="2331720" cy="1143000"/>
          </a:xfrm>
          <a:prstGeom prst="rect">
            <a:avLst/>
          </a:prstGeom>
          <a:solidFill>
            <a:srgbClr val="F4F6FB"/>
          </a:solidFill>
          <a:ln w="12700">
            <a:solidFill>
              <a:srgbClr val="E1E6F0"/>
            </a:solidFill>
            <a:prstDash val="solid"/>
          </a:ln>
        </p:spPr>
      </p:sp>
      <p:sp>
        <p:nvSpPr>
          <p:cNvPr id="15" name="Shape 13"/>
          <p:cNvSpPr/>
          <p:nvPr/>
        </p:nvSpPr>
        <p:spPr>
          <a:xfrm>
            <a:off x="5394960" y="1325880"/>
            <a:ext cx="45720" cy="1143000"/>
          </a:xfrm>
          <a:prstGeom prst="rect">
            <a:avLst/>
          </a:prstGeom>
          <a:solidFill>
            <a:srgbClr val="B02A2A"/>
          </a:solidFill>
          <a:ln/>
        </p:spPr>
      </p:sp>
      <p:sp>
        <p:nvSpPr>
          <p:cNvPr id="16" name="Text 14"/>
          <p:cNvSpPr/>
          <p:nvPr/>
        </p:nvSpPr>
        <p:spPr>
          <a:xfrm>
            <a:off x="5559552" y="1435608"/>
            <a:ext cx="2057400" cy="274320"/>
          </a:xfrm>
          <a:prstGeom prst="rect">
            <a:avLst/>
          </a:prstGeom>
          <a:noFill/>
          <a:ln/>
        </p:spPr>
        <p:txBody>
          <a:bodyPr wrap="square" rtlCol="0" anchor="ctr"/>
          <a:lstStyle/>
          <a:p>
            <a:pPr marL="0" indent="0">
              <a:buNone/>
            </a:pPr>
            <a:r>
              <a:rPr lang="en-US" sz="950" b="1" dirty="0">
                <a:solidFill>
                  <a:srgbClr val="5A5A5A"/>
                </a:solidFill>
                <a:latin typeface="Arial" pitchFamily="34" charset="0"/>
                <a:ea typeface="Arial" pitchFamily="34" charset="-122"/>
                <a:cs typeface="Arial" pitchFamily="34" charset="-120"/>
              </a:rPr>
              <a:t>WEAKEST MONTH</a:t>
            </a:r>
            <a:endParaRPr lang="en-US" sz="950" dirty="0"/>
          </a:p>
        </p:txBody>
      </p:sp>
      <p:sp>
        <p:nvSpPr>
          <p:cNvPr id="17" name="Text 15"/>
          <p:cNvSpPr/>
          <p:nvPr/>
        </p:nvSpPr>
        <p:spPr>
          <a:xfrm>
            <a:off x="5559552" y="1691640"/>
            <a:ext cx="2057400" cy="548640"/>
          </a:xfrm>
          <a:prstGeom prst="rect">
            <a:avLst/>
          </a:prstGeom>
          <a:noFill/>
          <a:ln/>
        </p:spPr>
        <p:txBody>
          <a:bodyPr wrap="square" rtlCol="0" anchor="ctr"/>
          <a:lstStyle/>
          <a:p>
            <a:pPr marL="0" indent="0">
              <a:buNone/>
            </a:pPr>
            <a:r>
              <a:rPr lang="en-US" sz="3000" b="1" dirty="0">
                <a:solidFill>
                  <a:srgbClr val="B02A2A"/>
                </a:solidFill>
                <a:latin typeface="Arial" pitchFamily="34" charset="0"/>
                <a:ea typeface="Arial" pitchFamily="34" charset="-122"/>
                <a:cs typeface="Arial" pitchFamily="34" charset="-120"/>
              </a:rPr>
              <a:t>Nov 2025</a:t>
            </a:r>
            <a:endParaRPr lang="en-US" sz="3000" dirty="0"/>
          </a:p>
        </p:txBody>
      </p:sp>
      <p:sp>
        <p:nvSpPr>
          <p:cNvPr id="18" name="Text 16"/>
          <p:cNvSpPr/>
          <p:nvPr/>
        </p:nvSpPr>
        <p:spPr>
          <a:xfrm>
            <a:off x="5559552" y="2176272"/>
            <a:ext cx="2057400" cy="256032"/>
          </a:xfrm>
          <a:prstGeom prst="rect">
            <a:avLst/>
          </a:prstGeom>
          <a:noFill/>
          <a:ln/>
        </p:spPr>
        <p:txBody>
          <a:bodyPr wrap="square" rtlCol="0" anchor="ctr"/>
          <a:lstStyle/>
          <a:p>
            <a:pPr marL="0" indent="0">
              <a:buNone/>
            </a:pPr>
            <a:r>
              <a:rPr lang="en-US" sz="900" i="1" dirty="0">
                <a:solidFill>
                  <a:srgbClr val="5A5A5A"/>
                </a:solidFill>
                <a:latin typeface="Arial" pitchFamily="34" charset="0"/>
                <a:ea typeface="Arial" pitchFamily="34" charset="-122"/>
                <a:cs typeface="Arial" pitchFamily="34" charset="-120"/>
              </a:rPr>
              <a:t>39.3% SLA (11 of 28)</a:t>
            </a:r>
            <a:endParaRPr lang="en-US" sz="900" dirty="0"/>
          </a:p>
        </p:txBody>
      </p:sp>
      <p:sp>
        <p:nvSpPr>
          <p:cNvPr id="19" name="Shape 17"/>
          <p:cNvSpPr/>
          <p:nvPr/>
        </p:nvSpPr>
        <p:spPr>
          <a:xfrm>
            <a:off x="7863840" y="1325880"/>
            <a:ext cx="3840480" cy="1143000"/>
          </a:xfrm>
          <a:prstGeom prst="rect">
            <a:avLst/>
          </a:prstGeom>
          <a:solidFill>
            <a:srgbClr val="F4F6FB"/>
          </a:solidFill>
          <a:ln w="12700">
            <a:solidFill>
              <a:srgbClr val="E1E6F0"/>
            </a:solidFill>
            <a:prstDash val="solid"/>
          </a:ln>
        </p:spPr>
      </p:sp>
      <p:sp>
        <p:nvSpPr>
          <p:cNvPr id="20" name="Shape 18"/>
          <p:cNvSpPr/>
          <p:nvPr/>
        </p:nvSpPr>
        <p:spPr>
          <a:xfrm>
            <a:off x="7863840" y="1325880"/>
            <a:ext cx="45720" cy="1143000"/>
          </a:xfrm>
          <a:prstGeom prst="rect">
            <a:avLst/>
          </a:prstGeom>
          <a:solidFill>
            <a:srgbClr val="B02A2A"/>
          </a:solidFill>
          <a:ln/>
        </p:spPr>
      </p:sp>
      <p:sp>
        <p:nvSpPr>
          <p:cNvPr id="21" name="Text 19"/>
          <p:cNvSpPr/>
          <p:nvPr/>
        </p:nvSpPr>
        <p:spPr>
          <a:xfrm>
            <a:off x="8028432" y="1435608"/>
            <a:ext cx="3566160" cy="274320"/>
          </a:xfrm>
          <a:prstGeom prst="rect">
            <a:avLst/>
          </a:prstGeom>
          <a:noFill/>
          <a:ln/>
        </p:spPr>
        <p:txBody>
          <a:bodyPr wrap="square" rtlCol="0" anchor="ctr"/>
          <a:lstStyle/>
          <a:p>
            <a:pPr marL="0" indent="0">
              <a:buNone/>
            </a:pPr>
            <a:r>
              <a:rPr lang="en-US" sz="950" b="1" dirty="0">
                <a:solidFill>
                  <a:srgbClr val="5A5A5A"/>
                </a:solidFill>
                <a:latin typeface="Arial" pitchFamily="34" charset="0"/>
                <a:ea typeface="Arial" pitchFamily="34" charset="-122"/>
                <a:cs typeface="Arial" pitchFamily="34" charset="-120"/>
              </a:rPr>
              <a:t>SLA MISSED YTD</a:t>
            </a:r>
            <a:endParaRPr lang="en-US" sz="950" dirty="0"/>
          </a:p>
        </p:txBody>
      </p:sp>
      <p:sp>
        <p:nvSpPr>
          <p:cNvPr id="22" name="Text 20"/>
          <p:cNvSpPr/>
          <p:nvPr/>
        </p:nvSpPr>
        <p:spPr>
          <a:xfrm>
            <a:off x="8028432" y="1691640"/>
            <a:ext cx="3566160" cy="548640"/>
          </a:xfrm>
          <a:prstGeom prst="rect">
            <a:avLst/>
          </a:prstGeom>
          <a:noFill/>
          <a:ln/>
        </p:spPr>
        <p:txBody>
          <a:bodyPr wrap="square" rtlCol="0" anchor="ctr"/>
          <a:lstStyle/>
          <a:p>
            <a:pPr marL="0" indent="0">
              <a:buNone/>
            </a:pPr>
            <a:r>
              <a:rPr lang="en-US" sz="3000" b="1" dirty="0">
                <a:solidFill>
                  <a:srgbClr val="B02A2A"/>
                </a:solidFill>
                <a:latin typeface="Arial" pitchFamily="34" charset="0"/>
                <a:ea typeface="Arial" pitchFamily="34" charset="-122"/>
                <a:cs typeface="Arial" pitchFamily="34" charset="-120"/>
              </a:rPr>
              <a:t>98 tickets</a:t>
            </a:r>
            <a:endParaRPr lang="en-US" sz="3000" dirty="0"/>
          </a:p>
        </p:txBody>
      </p:sp>
      <p:sp>
        <p:nvSpPr>
          <p:cNvPr id="23" name="Text 21"/>
          <p:cNvSpPr/>
          <p:nvPr/>
        </p:nvSpPr>
        <p:spPr>
          <a:xfrm>
            <a:off x="8028432" y="2176272"/>
            <a:ext cx="3566160" cy="256032"/>
          </a:xfrm>
          <a:prstGeom prst="rect">
            <a:avLst/>
          </a:prstGeom>
          <a:noFill/>
          <a:ln/>
        </p:spPr>
        <p:txBody>
          <a:bodyPr wrap="square" rtlCol="0" anchor="ctr"/>
          <a:lstStyle/>
          <a:p>
            <a:pPr marL="0" indent="0">
              <a:buNone/>
            </a:pPr>
            <a:r>
              <a:rPr lang="en-US" sz="900" i="1" dirty="0">
                <a:solidFill>
                  <a:srgbClr val="5A5A5A"/>
                </a:solidFill>
                <a:latin typeface="Arial" pitchFamily="34" charset="0"/>
                <a:ea typeface="Arial" pitchFamily="34" charset="-122"/>
                <a:cs typeface="Arial" pitchFamily="34" charset="-120"/>
              </a:rPr>
              <a:t>22.5% of eligible population</a:t>
            </a:r>
            <a:endParaRPr lang="en-US" sz="900" dirty="0"/>
          </a:p>
        </p:txBody>
      </p:sp>
      <p:graphicFrame>
        <p:nvGraphicFramePr>
          <p:cNvPr id="24" name="Chart 0"/>
          <p:cNvGraphicFramePr/>
          <p:nvPr/>
        </p:nvGraphicFramePr>
        <p:xfrm>
          <a:off x="457200" y="2697480"/>
          <a:ext cx="11247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 22"/>
          <p:cNvSpPr/>
          <p:nvPr/>
        </p:nvSpPr>
        <p:spPr>
          <a:xfrm>
            <a:off x="457200" y="6537960"/>
            <a:ext cx="9601200" cy="274320"/>
          </a:xfrm>
          <a:prstGeom prst="rect">
            <a:avLst/>
          </a:prstGeom>
          <a:noFill/>
          <a:ln/>
        </p:spPr>
        <p:txBody>
          <a:bodyPr wrap="square" rtlCol="0" anchor="ctr"/>
          <a:lstStyle/>
          <a:p>
            <a:pPr marL="0" indent="0" algn="l">
              <a:buNone/>
            </a:pPr>
            <a:r>
              <a:rPr lang="en-US" sz="800" dirty="0">
                <a:solidFill>
                  <a:srgbClr val="9AA3B5"/>
                </a:solidFill>
                <a:latin typeface="Arial" pitchFamily="34" charset="0"/>
                <a:ea typeface="Arial" pitchFamily="34" charset="-122"/>
                <a:cs typeface="Arial" pitchFamily="34" charset="-120"/>
              </a:rPr>
              <a:t>Fresh Thyme YTD SLA Performance Report  |  Aug 2025 – Aug 2026  |  Vendor: NCR  |  Account: Meijer Inc.</a:t>
            </a:r>
            <a:endParaRPr lang="en-US" sz="800" dirty="0"/>
          </a:p>
        </p:txBody>
      </p:sp>
      <p:sp>
        <p:nvSpPr>
          <p:cNvPr id="26" name="Text 23"/>
          <p:cNvSpPr/>
          <p:nvPr/>
        </p:nvSpPr>
        <p:spPr>
          <a:xfrm>
            <a:off x="11521440" y="6537960"/>
            <a:ext cx="457200" cy="274320"/>
          </a:xfrm>
          <a:prstGeom prst="rect">
            <a:avLst/>
          </a:prstGeom>
          <a:noFill/>
          <a:ln/>
        </p:spPr>
        <p:txBody>
          <a:bodyPr wrap="square" rtlCol="0" anchor="ctr"/>
          <a:lstStyle/>
          <a:p>
            <a:pPr marL="0" indent="0" algn="r">
              <a:buNone/>
            </a:pPr>
            <a:r>
              <a:rPr lang="en-US" sz="800" dirty="0">
                <a:solidFill>
                  <a:srgbClr val="9AA3B5"/>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SLA &amp; Exception / Mitigation Impact</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300" i="1" dirty="0">
                <a:solidFill>
                  <a:srgbClr val="5A5A5A"/>
                </a:solidFill>
                <a:latin typeface="Arial" pitchFamily="34" charset="0"/>
                <a:ea typeface="Arial" pitchFamily="34" charset="-122"/>
                <a:cs typeface="Arial" pitchFamily="34" charset="-120"/>
              </a:rPr>
              <a:t>Raw SLA vs. Adjusted / Opportunity SLA, and the role of the mitigation review process</a:t>
            </a:r>
            <a:endParaRPr lang="en-US" sz="1300" dirty="0"/>
          </a:p>
        </p:txBody>
      </p:sp>
      <p:sp>
        <p:nvSpPr>
          <p:cNvPr id="4" name="Shape 2"/>
          <p:cNvSpPr/>
          <p:nvPr/>
        </p:nvSpPr>
        <p:spPr>
          <a:xfrm>
            <a:off x="457200" y="1325880"/>
            <a:ext cx="3566160" cy="1234440"/>
          </a:xfrm>
          <a:prstGeom prst="rect">
            <a:avLst/>
          </a:prstGeom>
          <a:solidFill>
            <a:srgbClr val="F4F6FB"/>
          </a:solidFill>
          <a:ln w="12700">
            <a:solidFill>
              <a:srgbClr val="E1E6F0"/>
            </a:solidFill>
            <a:prstDash val="solid"/>
          </a:ln>
        </p:spPr>
      </p:sp>
      <p:sp>
        <p:nvSpPr>
          <p:cNvPr id="5" name="Shape 3"/>
          <p:cNvSpPr/>
          <p:nvPr/>
        </p:nvSpPr>
        <p:spPr>
          <a:xfrm>
            <a:off x="457200" y="1325880"/>
            <a:ext cx="45720" cy="1234440"/>
          </a:xfrm>
          <a:prstGeom prst="rect">
            <a:avLst/>
          </a:prstGeom>
          <a:solidFill>
            <a:srgbClr val="1F3864"/>
          </a:solidFill>
          <a:ln/>
        </p:spPr>
      </p:sp>
      <p:sp>
        <p:nvSpPr>
          <p:cNvPr id="6" name="Text 4"/>
          <p:cNvSpPr/>
          <p:nvPr/>
        </p:nvSpPr>
        <p:spPr>
          <a:xfrm>
            <a:off x="621792" y="1435608"/>
            <a:ext cx="3291840" cy="274320"/>
          </a:xfrm>
          <a:prstGeom prst="rect">
            <a:avLst/>
          </a:prstGeom>
          <a:noFill/>
          <a:ln/>
        </p:spPr>
        <p:txBody>
          <a:bodyPr wrap="square" rtlCol="0" anchor="ctr"/>
          <a:lstStyle/>
          <a:p>
            <a:pPr marL="0" indent="0">
              <a:buNone/>
            </a:pPr>
            <a:r>
              <a:rPr lang="en-US" sz="950" b="1" dirty="0">
                <a:solidFill>
                  <a:srgbClr val="5A5A5A"/>
                </a:solidFill>
                <a:latin typeface="Arial" pitchFamily="34" charset="0"/>
                <a:ea typeface="Arial" pitchFamily="34" charset="-122"/>
                <a:cs typeface="Arial" pitchFamily="34" charset="-120"/>
              </a:rPr>
              <a:t>RAW SLA (WITHIN ELIGIBLE POP.)</a:t>
            </a:r>
            <a:endParaRPr lang="en-US" sz="950" dirty="0"/>
          </a:p>
        </p:txBody>
      </p:sp>
      <p:sp>
        <p:nvSpPr>
          <p:cNvPr id="7" name="Text 5"/>
          <p:cNvSpPr/>
          <p:nvPr/>
        </p:nvSpPr>
        <p:spPr>
          <a:xfrm>
            <a:off x="621792" y="1691640"/>
            <a:ext cx="3291840" cy="640080"/>
          </a:xfrm>
          <a:prstGeom prst="rect">
            <a:avLst/>
          </a:prstGeom>
          <a:noFill/>
          <a:ln/>
        </p:spPr>
        <p:txBody>
          <a:bodyPr wrap="square" rtlCol="0" anchor="ctr"/>
          <a:lstStyle/>
          <a:p>
            <a:pPr marL="0" indent="0">
              <a:buNone/>
            </a:pPr>
            <a:r>
              <a:rPr lang="en-US" sz="3000" b="1" dirty="0">
                <a:solidFill>
                  <a:srgbClr val="1F3864"/>
                </a:solidFill>
                <a:latin typeface="Arial" pitchFamily="34" charset="0"/>
                <a:ea typeface="Arial" pitchFamily="34" charset="-122"/>
                <a:cs typeface="Arial" pitchFamily="34" charset="-120"/>
              </a:rPr>
              <a:t>78.6%</a:t>
            </a:r>
            <a:endParaRPr lang="en-US" sz="3000" dirty="0"/>
          </a:p>
        </p:txBody>
      </p:sp>
      <p:sp>
        <p:nvSpPr>
          <p:cNvPr id="8" name="Text 6"/>
          <p:cNvSpPr/>
          <p:nvPr/>
        </p:nvSpPr>
        <p:spPr>
          <a:xfrm>
            <a:off x="621792" y="2267712"/>
            <a:ext cx="3291840" cy="256032"/>
          </a:xfrm>
          <a:prstGeom prst="rect">
            <a:avLst/>
          </a:prstGeom>
          <a:noFill/>
          <a:ln/>
        </p:spPr>
        <p:txBody>
          <a:bodyPr wrap="square" rtlCol="0" anchor="ctr"/>
          <a:lstStyle/>
          <a:p>
            <a:pPr marL="0" indent="0">
              <a:buNone/>
            </a:pPr>
            <a:r>
              <a:rPr lang="en-US" sz="900" i="1" dirty="0">
                <a:solidFill>
                  <a:srgbClr val="5A5A5A"/>
                </a:solidFill>
                <a:latin typeface="Arial" pitchFamily="34" charset="0"/>
                <a:ea typeface="Arial" pitchFamily="34" charset="-122"/>
                <a:cs typeface="Arial" pitchFamily="34" charset="-120"/>
              </a:rPr>
              <a:t>342 of 435 — before mitigation outcome</a:t>
            </a:r>
            <a:endParaRPr lang="en-US" sz="900" dirty="0"/>
          </a:p>
        </p:txBody>
      </p:sp>
      <p:sp>
        <p:nvSpPr>
          <p:cNvPr id="9" name="Shape 7"/>
          <p:cNvSpPr/>
          <p:nvPr/>
        </p:nvSpPr>
        <p:spPr>
          <a:xfrm>
            <a:off x="4160520" y="1325880"/>
            <a:ext cx="3566160" cy="1234440"/>
          </a:xfrm>
          <a:prstGeom prst="rect">
            <a:avLst/>
          </a:prstGeom>
          <a:solidFill>
            <a:srgbClr val="F4F6FB"/>
          </a:solidFill>
          <a:ln w="12700">
            <a:solidFill>
              <a:srgbClr val="E1E6F0"/>
            </a:solidFill>
            <a:prstDash val="solid"/>
          </a:ln>
        </p:spPr>
      </p:sp>
      <p:sp>
        <p:nvSpPr>
          <p:cNvPr id="10" name="Shape 8"/>
          <p:cNvSpPr/>
          <p:nvPr/>
        </p:nvSpPr>
        <p:spPr>
          <a:xfrm>
            <a:off x="4160520" y="1325880"/>
            <a:ext cx="45720" cy="1234440"/>
          </a:xfrm>
          <a:prstGeom prst="rect">
            <a:avLst/>
          </a:prstGeom>
          <a:solidFill>
            <a:srgbClr val="1E7A34"/>
          </a:solidFill>
          <a:ln/>
        </p:spPr>
      </p:sp>
      <p:sp>
        <p:nvSpPr>
          <p:cNvPr id="11" name="Text 9"/>
          <p:cNvSpPr/>
          <p:nvPr/>
        </p:nvSpPr>
        <p:spPr>
          <a:xfrm>
            <a:off x="4325112" y="1435608"/>
            <a:ext cx="3291840" cy="274320"/>
          </a:xfrm>
          <a:prstGeom prst="rect">
            <a:avLst/>
          </a:prstGeom>
          <a:noFill/>
          <a:ln/>
        </p:spPr>
        <p:txBody>
          <a:bodyPr wrap="square" rtlCol="0" anchor="ctr"/>
          <a:lstStyle/>
          <a:p>
            <a:pPr marL="0" indent="0">
              <a:buNone/>
            </a:pPr>
            <a:r>
              <a:rPr lang="en-US" sz="950" b="1" dirty="0">
                <a:solidFill>
                  <a:srgbClr val="5A5A5A"/>
                </a:solidFill>
                <a:latin typeface="Arial" pitchFamily="34" charset="0"/>
                <a:ea typeface="Arial" pitchFamily="34" charset="-122"/>
                <a:cs typeface="Arial" pitchFamily="34" charset="-120"/>
              </a:rPr>
              <a:t>ADJUSTED / OPPORTUNITY SLA</a:t>
            </a:r>
            <a:endParaRPr lang="en-US" sz="950" dirty="0"/>
          </a:p>
        </p:txBody>
      </p:sp>
      <p:sp>
        <p:nvSpPr>
          <p:cNvPr id="12" name="Text 10"/>
          <p:cNvSpPr/>
          <p:nvPr/>
        </p:nvSpPr>
        <p:spPr>
          <a:xfrm>
            <a:off x="4325112" y="1691640"/>
            <a:ext cx="3291840" cy="640080"/>
          </a:xfrm>
          <a:prstGeom prst="rect">
            <a:avLst/>
          </a:prstGeom>
          <a:noFill/>
          <a:ln/>
        </p:spPr>
        <p:txBody>
          <a:bodyPr wrap="square" rtlCol="0" anchor="ctr"/>
          <a:lstStyle/>
          <a:p>
            <a:pPr marL="0" indent="0">
              <a:buNone/>
            </a:pPr>
            <a:r>
              <a:rPr lang="en-US" sz="3000" b="1" dirty="0">
                <a:solidFill>
                  <a:srgbClr val="1E7A34"/>
                </a:solidFill>
                <a:latin typeface="Arial" pitchFamily="34" charset="0"/>
                <a:ea typeface="Arial" pitchFamily="34" charset="-122"/>
                <a:cs typeface="Arial" pitchFamily="34" charset="-120"/>
              </a:rPr>
              <a:t>77.5%</a:t>
            </a:r>
            <a:endParaRPr lang="en-US" sz="3000" dirty="0"/>
          </a:p>
        </p:txBody>
      </p:sp>
      <p:sp>
        <p:nvSpPr>
          <p:cNvPr id="13" name="Text 11"/>
          <p:cNvSpPr/>
          <p:nvPr/>
        </p:nvSpPr>
        <p:spPr>
          <a:xfrm>
            <a:off x="4325112" y="2267712"/>
            <a:ext cx="3291840" cy="256032"/>
          </a:xfrm>
          <a:prstGeom prst="rect">
            <a:avLst/>
          </a:prstGeom>
          <a:noFill/>
          <a:ln/>
        </p:spPr>
        <p:txBody>
          <a:bodyPr wrap="square" rtlCol="0" anchor="ctr"/>
          <a:lstStyle/>
          <a:p>
            <a:pPr marL="0" indent="0">
              <a:buNone/>
            </a:pPr>
            <a:r>
              <a:rPr lang="en-US" sz="900" i="1" dirty="0">
                <a:solidFill>
                  <a:srgbClr val="5A5A5A"/>
                </a:solidFill>
                <a:latin typeface="Arial" pitchFamily="34" charset="0"/>
                <a:ea typeface="Arial" pitchFamily="34" charset="-122"/>
                <a:cs typeface="Arial" pitchFamily="34" charset="-120"/>
              </a:rPr>
              <a:t>337 of 435 — after mitigation review</a:t>
            </a:r>
            <a:endParaRPr lang="en-US" sz="900" dirty="0"/>
          </a:p>
        </p:txBody>
      </p:sp>
      <p:sp>
        <p:nvSpPr>
          <p:cNvPr id="14" name="Shape 12"/>
          <p:cNvSpPr/>
          <p:nvPr/>
        </p:nvSpPr>
        <p:spPr>
          <a:xfrm>
            <a:off x="7863840" y="1325880"/>
            <a:ext cx="3840480" cy="1234440"/>
          </a:xfrm>
          <a:prstGeom prst="rect">
            <a:avLst/>
          </a:prstGeom>
          <a:solidFill>
            <a:srgbClr val="F4F6FB"/>
          </a:solidFill>
          <a:ln w="12700">
            <a:solidFill>
              <a:srgbClr val="E1E6F0"/>
            </a:solidFill>
            <a:prstDash val="solid"/>
          </a:ln>
        </p:spPr>
      </p:sp>
      <p:sp>
        <p:nvSpPr>
          <p:cNvPr id="15" name="Shape 13"/>
          <p:cNvSpPr/>
          <p:nvPr/>
        </p:nvSpPr>
        <p:spPr>
          <a:xfrm>
            <a:off x="7863840" y="1325880"/>
            <a:ext cx="45720" cy="1234440"/>
          </a:xfrm>
          <a:prstGeom prst="rect">
            <a:avLst/>
          </a:prstGeom>
          <a:solidFill>
            <a:srgbClr val="B8860B"/>
          </a:solidFill>
          <a:ln/>
        </p:spPr>
      </p:sp>
      <p:sp>
        <p:nvSpPr>
          <p:cNvPr id="16" name="Text 14"/>
          <p:cNvSpPr/>
          <p:nvPr/>
        </p:nvSpPr>
        <p:spPr>
          <a:xfrm>
            <a:off x="8028432" y="1435608"/>
            <a:ext cx="3566160" cy="274320"/>
          </a:xfrm>
          <a:prstGeom prst="rect">
            <a:avLst/>
          </a:prstGeom>
          <a:noFill/>
          <a:ln/>
        </p:spPr>
        <p:txBody>
          <a:bodyPr wrap="square" rtlCol="0" anchor="ctr"/>
          <a:lstStyle/>
          <a:p>
            <a:pPr marL="0" indent="0">
              <a:buNone/>
            </a:pPr>
            <a:r>
              <a:rPr lang="en-US" sz="950" b="1" dirty="0">
                <a:solidFill>
                  <a:srgbClr val="5A5A5A"/>
                </a:solidFill>
                <a:latin typeface="Arial" pitchFamily="34" charset="0"/>
                <a:ea typeface="Arial" pitchFamily="34" charset="-122"/>
                <a:cs typeface="Arial" pitchFamily="34" charset="-120"/>
              </a:rPr>
              <a:t>EXCLUDED FROM SLA OPPORTUNITY</a:t>
            </a:r>
            <a:endParaRPr lang="en-US" sz="950" dirty="0"/>
          </a:p>
        </p:txBody>
      </p:sp>
      <p:sp>
        <p:nvSpPr>
          <p:cNvPr id="17" name="Text 15"/>
          <p:cNvSpPr/>
          <p:nvPr/>
        </p:nvSpPr>
        <p:spPr>
          <a:xfrm>
            <a:off x="8028432" y="1691640"/>
            <a:ext cx="3566160" cy="640080"/>
          </a:xfrm>
          <a:prstGeom prst="rect">
            <a:avLst/>
          </a:prstGeom>
          <a:noFill/>
          <a:ln/>
        </p:spPr>
        <p:txBody>
          <a:bodyPr wrap="square" rtlCol="0" anchor="ctr"/>
          <a:lstStyle/>
          <a:p>
            <a:pPr marL="0" indent="0">
              <a:buNone/>
            </a:pPr>
            <a:r>
              <a:rPr lang="en-US" sz="3000" b="1" dirty="0">
                <a:solidFill>
                  <a:srgbClr val="B8860B"/>
                </a:solidFill>
                <a:latin typeface="Arial" pitchFamily="34" charset="0"/>
                <a:ea typeface="Arial" pitchFamily="34" charset="-122"/>
                <a:cs typeface="Arial" pitchFamily="34" charset="-120"/>
              </a:rPr>
              <a:t>134 tickets</a:t>
            </a:r>
            <a:endParaRPr lang="en-US" sz="3000" dirty="0"/>
          </a:p>
        </p:txBody>
      </p:sp>
      <p:sp>
        <p:nvSpPr>
          <p:cNvPr id="18" name="Text 16"/>
          <p:cNvSpPr/>
          <p:nvPr/>
        </p:nvSpPr>
        <p:spPr>
          <a:xfrm>
            <a:off x="8028432" y="2267712"/>
            <a:ext cx="3566160" cy="256032"/>
          </a:xfrm>
          <a:prstGeom prst="rect">
            <a:avLst/>
          </a:prstGeom>
          <a:noFill/>
          <a:ln/>
        </p:spPr>
        <p:txBody>
          <a:bodyPr wrap="square" rtlCol="0" anchor="ctr"/>
          <a:lstStyle/>
          <a:p>
            <a:pPr marL="0" indent="0">
              <a:buNone/>
            </a:pPr>
            <a:r>
              <a:rPr lang="en-US" sz="900" i="1" dirty="0">
                <a:solidFill>
                  <a:srgbClr val="5A5A5A"/>
                </a:solidFill>
                <a:latin typeface="Arial" pitchFamily="34" charset="0"/>
                <a:ea typeface="Arial" pitchFamily="34" charset="-122"/>
                <a:cs typeface="Arial" pitchFamily="34" charset="-120"/>
              </a:rPr>
              <a:t>23.5% of all tickets — out of scope or mitigated out</a:t>
            </a:r>
            <a:endParaRPr lang="en-US" sz="900" dirty="0"/>
          </a:p>
        </p:txBody>
      </p:sp>
      <p:sp>
        <p:nvSpPr>
          <p:cNvPr id="19" name="Text 17"/>
          <p:cNvSpPr/>
          <p:nvPr/>
        </p:nvSpPr>
        <p:spPr>
          <a:xfrm>
            <a:off x="457200" y="2697480"/>
            <a:ext cx="11247120" cy="685800"/>
          </a:xfrm>
          <a:prstGeom prst="rect">
            <a:avLst/>
          </a:prstGeom>
          <a:noFill/>
          <a:ln/>
        </p:spPr>
        <p:txBody>
          <a:bodyPr wrap="square" rtlCol="0" anchor="t"/>
          <a:lstStyle/>
          <a:p>
            <a:pPr marL="0" indent="0">
              <a:buNone/>
            </a:pPr>
            <a:r>
              <a:rPr lang="en-US" sz="1100" i="1" dirty="0">
                <a:solidFill>
                  <a:srgbClr val="5A5A5A"/>
                </a:solidFill>
                <a:latin typeface="Arial" pitchFamily="34" charset="0"/>
                <a:ea typeface="Arial" pitchFamily="34" charset="-122"/>
                <a:cs typeface="Arial" pitchFamily="34" charset="-120"/>
              </a:rPr>
              <a:t>The Service Level Agreement Resolve Opportunity Indicator (source column EB) determines which tickets count toward SLA at all. Within that eligible population, the Mitigated SLA Resolve Met Indicator (CE) is used when a mitigation has been fully processed, otherwise the Net Met Indicator (EA). The mitigation process changes relatively few outcomes within the eligible population — its larger effect is on which tickets are counted in the first place.</a:t>
            </a:r>
            <a:endParaRPr lang="en-US" sz="1100" dirty="0"/>
          </a:p>
        </p:txBody>
      </p:sp>
      <p:graphicFrame>
        <p:nvGraphicFramePr>
          <p:cNvPr id="20" name="Chart 0"/>
          <p:cNvGraphicFramePr/>
          <p:nvPr/>
        </p:nvGraphicFramePr>
        <p:xfrm>
          <a:off x="457200" y="3520440"/>
          <a:ext cx="694944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1" name="Shape 18"/>
          <p:cNvSpPr/>
          <p:nvPr/>
        </p:nvSpPr>
        <p:spPr>
          <a:xfrm>
            <a:off x="7589520" y="3520440"/>
            <a:ext cx="4114800" cy="2743200"/>
          </a:xfrm>
          <a:prstGeom prst="rect">
            <a:avLst/>
          </a:prstGeom>
          <a:solidFill>
            <a:srgbClr val="FBF1DA"/>
          </a:solidFill>
          <a:ln w="12700">
            <a:solidFill>
              <a:srgbClr val="E8D9A8"/>
            </a:solidFill>
            <a:prstDash val="solid"/>
          </a:ln>
        </p:spPr>
      </p:sp>
      <p:sp>
        <p:nvSpPr>
          <p:cNvPr id="22" name="Text 19"/>
          <p:cNvSpPr/>
          <p:nvPr/>
        </p:nvSpPr>
        <p:spPr>
          <a:xfrm>
            <a:off x="7818120" y="3657600"/>
            <a:ext cx="3657600" cy="320040"/>
          </a:xfrm>
          <a:prstGeom prst="rect">
            <a:avLst/>
          </a:prstGeom>
          <a:noFill/>
          <a:ln/>
        </p:spPr>
        <p:txBody>
          <a:bodyPr wrap="square" rtlCol="0" anchor="ctr"/>
          <a:lstStyle/>
          <a:p>
            <a:pPr marL="0" indent="0">
              <a:buNone/>
            </a:pPr>
            <a:r>
              <a:rPr lang="en-US" sz="1300" b="1" dirty="0">
                <a:solidFill>
                  <a:srgbClr val="B8860B"/>
                </a:solidFill>
                <a:latin typeface="Arial" pitchFamily="34" charset="0"/>
                <a:ea typeface="Arial" pitchFamily="34" charset="-122"/>
                <a:cs typeface="Arial" pitchFamily="34" charset="-120"/>
              </a:rPr>
              <a:t>Key Observation</a:t>
            </a:r>
            <a:endParaRPr lang="en-US" sz="1300" dirty="0"/>
          </a:p>
        </p:txBody>
      </p:sp>
      <p:sp>
        <p:nvSpPr>
          <p:cNvPr id="23" name="Text 20"/>
          <p:cNvSpPr/>
          <p:nvPr/>
        </p:nvSpPr>
        <p:spPr>
          <a:xfrm>
            <a:off x="7818120" y="4023360"/>
            <a:ext cx="3657600" cy="2148840"/>
          </a:xfrm>
          <a:prstGeom prst="rect">
            <a:avLst/>
          </a:prstGeom>
          <a:noFill/>
          <a:ln/>
        </p:spPr>
        <p:txBody>
          <a:bodyPr wrap="square" rtlCol="0" anchor="t"/>
          <a:lstStyle/>
          <a:p>
            <a:pPr marL="0" indent="0">
              <a:lnSpc>
                <a:spcPts val="1500"/>
              </a:lnSpc>
              <a:buNone/>
            </a:pPr>
            <a:r>
              <a:rPr lang="en-US" sz="1150" dirty="0">
                <a:solidFill>
                  <a:srgbClr val="6B5510"/>
                </a:solidFill>
                <a:latin typeface="Arial" pitchFamily="34" charset="0"/>
                <a:ea typeface="Arial" pitchFamily="34" charset="-122"/>
                <a:cs typeface="Arial" pitchFamily="34" charset="-120"/>
              </a:rPr>
              <a:t>Exception tagging jumped from ~10-20% of monthly tickets (Aug–Dec 2025) to effectively 100% every month from Jan 2026 through Jul 2026 — coinciding exactly with fully-processed mitigations first appearing in the data that same month. This is a material change in how exceptions are being applied and is recommended for review with the service vendor.</a:t>
            </a:r>
            <a:endParaRPr lang="en-US" sz="1150" dirty="0"/>
          </a:p>
        </p:txBody>
      </p:sp>
      <p:sp>
        <p:nvSpPr>
          <p:cNvPr id="24" name="Text 21"/>
          <p:cNvSpPr/>
          <p:nvPr/>
        </p:nvSpPr>
        <p:spPr>
          <a:xfrm>
            <a:off x="457200" y="6537960"/>
            <a:ext cx="9601200" cy="274320"/>
          </a:xfrm>
          <a:prstGeom prst="rect">
            <a:avLst/>
          </a:prstGeom>
          <a:noFill/>
          <a:ln/>
        </p:spPr>
        <p:txBody>
          <a:bodyPr wrap="square" rtlCol="0" anchor="ctr"/>
          <a:lstStyle/>
          <a:p>
            <a:pPr marL="0" indent="0" algn="l">
              <a:buNone/>
            </a:pPr>
            <a:r>
              <a:rPr lang="en-US" sz="800" dirty="0">
                <a:solidFill>
                  <a:srgbClr val="9AA3B5"/>
                </a:solidFill>
                <a:latin typeface="Arial" pitchFamily="34" charset="0"/>
                <a:ea typeface="Arial" pitchFamily="34" charset="-122"/>
                <a:cs typeface="Arial" pitchFamily="34" charset="-120"/>
              </a:rPr>
              <a:t>Fresh Thyme YTD SLA Performance Report  |  Aug 2025 – Aug 2026  |  Vendor: NCR  |  Account: Meijer Inc.</a:t>
            </a:r>
            <a:endParaRPr lang="en-US" sz="800" dirty="0"/>
          </a:p>
        </p:txBody>
      </p:sp>
      <p:sp>
        <p:nvSpPr>
          <p:cNvPr id="25" name="Text 22"/>
          <p:cNvSpPr/>
          <p:nvPr/>
        </p:nvSpPr>
        <p:spPr>
          <a:xfrm>
            <a:off x="11521440" y="6537960"/>
            <a:ext cx="457200" cy="274320"/>
          </a:xfrm>
          <a:prstGeom prst="rect">
            <a:avLst/>
          </a:prstGeom>
          <a:noFill/>
          <a:ln/>
        </p:spPr>
        <p:txBody>
          <a:bodyPr wrap="square" rtlCol="0" anchor="ctr"/>
          <a:lstStyle/>
          <a:p>
            <a:pPr marL="0" indent="0" algn="r">
              <a:buNone/>
            </a:pPr>
            <a:r>
              <a:rPr lang="en-US" sz="800" dirty="0">
                <a:solidFill>
                  <a:srgbClr val="9AA3B5"/>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Store Performance</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300" i="1" dirty="0">
                <a:solidFill>
                  <a:srgbClr val="5A5A5A"/>
                </a:solidFill>
                <a:latin typeface="Arial" pitchFamily="34" charset="0"/>
                <a:ea typeface="Arial" pitchFamily="34" charset="-122"/>
                <a:cs typeface="Arial" pitchFamily="34" charset="-120"/>
              </a:rPr>
              <a:t>Strongest and weakest stores by SLA % (minimum 5 SLA-relevant tickets)</a:t>
            </a:r>
            <a:endParaRPr lang="en-US" sz="1300" dirty="0"/>
          </a:p>
        </p:txBody>
      </p:sp>
      <p:sp>
        <p:nvSpPr>
          <p:cNvPr id="4" name="Text 2"/>
          <p:cNvSpPr/>
          <p:nvPr/>
        </p:nvSpPr>
        <p:spPr>
          <a:xfrm>
            <a:off x="457200" y="1371600"/>
            <a:ext cx="5486400" cy="320040"/>
          </a:xfrm>
          <a:prstGeom prst="rect">
            <a:avLst/>
          </a:prstGeom>
          <a:noFill/>
          <a:ln/>
        </p:spPr>
        <p:txBody>
          <a:bodyPr wrap="square" rtlCol="0" anchor="ctr"/>
          <a:lstStyle/>
          <a:p>
            <a:pPr marL="0" indent="0">
              <a:buNone/>
            </a:pPr>
            <a:r>
              <a:rPr lang="en-US" sz="1300" b="1" dirty="0">
                <a:solidFill>
                  <a:srgbClr val="1E7A34"/>
                </a:solidFill>
                <a:latin typeface="Arial" pitchFamily="34" charset="0"/>
                <a:ea typeface="Arial" pitchFamily="34" charset="-122"/>
                <a:cs typeface="Arial" pitchFamily="34" charset="-120"/>
              </a:rPr>
              <a:t>TOP PERFORMERS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5486400" cy="2304288"/>
        </p:xfrm>
        <a:graphic>
          <a:graphicData uri="http://schemas.openxmlformats.org/drawingml/2006/table">
            <a:tbl>
              <a:tblPr/>
              <a:tblGrid>
                <a:gridCol w="3657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Arial" pitchFamily="34" charset="0"/>
                          <a:ea typeface="Arial" pitchFamily="34" charset="-122"/>
                          <a:cs typeface="Arial" pitchFamily="34" charset="-120"/>
                        </a:rPr>
                        <a:t>Store</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SLA Eligible</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SLA %</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Fresh Thyme #494 (Saint Louis, MO)</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7A34"/>
                          </a:solidFill>
                          <a:latin typeface="Arial" pitchFamily="34" charset="0"/>
                          <a:ea typeface="Arial" pitchFamily="34" charset="-122"/>
                          <a:cs typeface="Arial" pitchFamily="34" charset="-120"/>
                        </a:rPr>
                        <a:t>100.0%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5F3E8"/>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Fresh Thyme #526 (Indianapolis, IN)</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1E7A34"/>
                          </a:solidFill>
                          <a:latin typeface="Arial" pitchFamily="34" charset="0"/>
                          <a:ea typeface="Arial" pitchFamily="34" charset="-122"/>
                          <a:cs typeface="Arial" pitchFamily="34" charset="-120"/>
                        </a:rPr>
                        <a:t>100.0%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5F3E8"/>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Fresh Thyme #497 (Pleasant Hills, PA)</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7A34"/>
                          </a:solidFill>
                          <a:latin typeface="Arial" pitchFamily="34" charset="0"/>
                          <a:ea typeface="Arial" pitchFamily="34" charset="-122"/>
                          <a:cs typeface="Arial" pitchFamily="34" charset="-120"/>
                        </a:rPr>
                        <a:t>100.0%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5F3E8"/>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Fresh Thyme #496 (Bridgeville, PA)</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1E7A34"/>
                          </a:solidFill>
                          <a:latin typeface="Arial" pitchFamily="34" charset="0"/>
                          <a:ea typeface="Arial" pitchFamily="34" charset="-122"/>
                          <a:cs typeface="Arial" pitchFamily="34" charset="-120"/>
                        </a:rPr>
                        <a:t>100.0%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5F3E8"/>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Fresh Thyme #525 (Indianapolis, IN)</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7A34"/>
                          </a:solidFill>
                          <a:latin typeface="Arial" pitchFamily="34" charset="0"/>
                          <a:ea typeface="Arial" pitchFamily="34" charset="-122"/>
                          <a:cs typeface="Arial" pitchFamily="34" charset="-120"/>
                        </a:rPr>
                        <a:t>100.0%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5F3E8"/>
                    </a:solidFill>
                  </a:tcPr>
                </a:tc>
                <a:extLst>
                  <a:ext uri="{0D108BD9-81ED-4DB2-BD59-A6C34878D82A}">
                    <a16:rowId xmlns:a16="http://schemas.microsoft.com/office/drawing/2014/main" val="10005"/>
                  </a:ext>
                </a:extLst>
              </a:tr>
            </a:tbl>
          </a:graphicData>
        </a:graphic>
      </p:graphicFrame>
      <p:sp>
        <p:nvSpPr>
          <p:cNvPr id="6" name="Text 3"/>
          <p:cNvSpPr/>
          <p:nvPr/>
        </p:nvSpPr>
        <p:spPr>
          <a:xfrm>
            <a:off x="6263640" y="1371600"/>
            <a:ext cx="5486400" cy="320040"/>
          </a:xfrm>
          <a:prstGeom prst="rect">
            <a:avLst/>
          </a:prstGeom>
          <a:noFill/>
          <a:ln/>
        </p:spPr>
        <p:txBody>
          <a:bodyPr wrap="square" rtlCol="0" anchor="ctr"/>
          <a:lstStyle/>
          <a:p>
            <a:pPr marL="0" indent="0">
              <a:buNone/>
            </a:pPr>
            <a:r>
              <a:rPr lang="en-US" sz="1300" b="1" dirty="0">
                <a:solidFill>
                  <a:srgbClr val="B02A2A"/>
                </a:solidFill>
                <a:latin typeface="Arial" pitchFamily="34" charset="0"/>
                <a:ea typeface="Arial" pitchFamily="34" charset="-122"/>
                <a:cs typeface="Arial" pitchFamily="34" charset="-120"/>
              </a:rPr>
              <a:t>PRIORITY FOLLOW-UP</a:t>
            </a:r>
            <a:endParaRPr lang="en-US" sz="13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263640" y="1737360"/>
          <a:ext cx="5486400" cy="2304288"/>
        </p:xfrm>
        <a:graphic>
          <a:graphicData uri="http://schemas.openxmlformats.org/drawingml/2006/table">
            <a:tbl>
              <a:tblPr/>
              <a:tblGrid>
                <a:gridCol w="3657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Arial" pitchFamily="34" charset="0"/>
                          <a:ea typeface="Arial" pitchFamily="34" charset="-122"/>
                          <a:cs typeface="Arial" pitchFamily="34" charset="-120"/>
                        </a:rPr>
                        <a:t>Store</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SLA Eligible</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SLA %</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Fresh Thyme #647 (Portage, MI)</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14</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B02A2A"/>
                          </a:solidFill>
                          <a:latin typeface="Arial" pitchFamily="34" charset="0"/>
                          <a:ea typeface="Arial" pitchFamily="34" charset="-122"/>
                          <a:cs typeface="Arial" pitchFamily="34" charset="-120"/>
                        </a:rPr>
                        <a:t>28.6%</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Fresh Thyme #931 (North Canton, OH)</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B02A2A"/>
                          </a:solidFill>
                          <a:latin typeface="Arial" pitchFamily="34" charset="0"/>
                          <a:ea typeface="Arial" pitchFamily="34" charset="-122"/>
                          <a:cs typeface="Arial" pitchFamily="34" charset="-120"/>
                        </a:rPr>
                        <a:t>41.7%</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Fresh Thyme #637 (Crystal Lake, IL)</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11</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B02A2A"/>
                          </a:solidFill>
                          <a:latin typeface="Arial" pitchFamily="34" charset="0"/>
                          <a:ea typeface="Arial" pitchFamily="34" charset="-122"/>
                          <a:cs typeface="Arial" pitchFamily="34" charset="-120"/>
                        </a:rPr>
                        <a:t>45.5%</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Fresh Thyme #632 (Downers Grove, IL)</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B02A2A"/>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Fresh Thyme #715 (Ashwaubenon, WI)</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B02A2A"/>
                          </a:solidFill>
                          <a:latin typeface="Arial" pitchFamily="34" charset="0"/>
                          <a:ea typeface="Arial" pitchFamily="34" charset="-122"/>
                          <a:cs typeface="Arial" pitchFamily="34" charset="-120"/>
                        </a:rPr>
                        <a:t>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5"/>
                  </a:ext>
                </a:extLst>
              </a:tr>
            </a:tbl>
          </a:graphicData>
        </a:graphic>
      </p:graphicFrame>
      <p:sp>
        <p:nvSpPr>
          <p:cNvPr id="8" name="Shape 4"/>
          <p:cNvSpPr/>
          <p:nvPr/>
        </p:nvSpPr>
        <p:spPr>
          <a:xfrm>
            <a:off x="457200" y="4160520"/>
            <a:ext cx="11247120" cy="1965960"/>
          </a:xfrm>
          <a:prstGeom prst="rect">
            <a:avLst/>
          </a:prstGeom>
          <a:solidFill>
            <a:srgbClr val="F4F6FB"/>
          </a:solidFill>
          <a:ln w="12700">
            <a:solidFill>
              <a:srgbClr val="E1E6F0"/>
            </a:solidFill>
            <a:prstDash val="solid"/>
          </a:ln>
        </p:spPr>
      </p:sp>
      <p:sp>
        <p:nvSpPr>
          <p:cNvPr id="7" name="Text 5"/>
          <p:cNvSpPr/>
          <p:nvPr/>
        </p:nvSpPr>
        <p:spPr>
          <a:xfrm>
            <a:off x="685800" y="4315968"/>
            <a:ext cx="4572000" cy="320040"/>
          </a:xfrm>
          <a:prstGeom prst="rect">
            <a:avLst/>
          </a:prstGeom>
          <a:noFill/>
          <a:ln/>
        </p:spPr>
        <p:txBody>
          <a:bodyPr wrap="square" rtlCol="0" anchor="ctr"/>
          <a:lstStyle/>
          <a:p>
            <a:pPr marL="0" indent="0">
              <a:buNone/>
            </a:pPr>
            <a:r>
              <a:rPr lang="en-US" sz="1300" b="1" dirty="0">
                <a:solidFill>
                  <a:srgbClr val="1F3864"/>
                </a:solidFill>
                <a:latin typeface="Arial" pitchFamily="34" charset="0"/>
                <a:ea typeface="Arial" pitchFamily="34" charset="-122"/>
                <a:cs typeface="Arial" pitchFamily="34" charset="-120"/>
              </a:rPr>
              <a:t>Reading this table</a:t>
            </a:r>
            <a:endParaRPr lang="en-US" sz="1300" dirty="0"/>
          </a:p>
        </p:txBody>
      </p:sp>
      <p:sp>
        <p:nvSpPr>
          <p:cNvPr id="10" name="Text 6"/>
          <p:cNvSpPr/>
          <p:nvPr/>
        </p:nvSpPr>
        <p:spPr>
          <a:xfrm>
            <a:off x="685800" y="4663440"/>
            <a:ext cx="10789920" cy="1371600"/>
          </a:xfrm>
          <a:prstGeom prst="rect">
            <a:avLst/>
          </a:prstGeom>
          <a:noFill/>
          <a:ln/>
        </p:spPr>
        <p:txBody>
          <a:bodyPr wrap="square" rtlCol="0" anchor="t"/>
          <a:lstStyle/>
          <a:p>
            <a:pPr marL="203200" indent="-203200">
              <a:lnSpc>
                <a:spcPts val="1600"/>
              </a:lnSpc>
              <a:spcAft>
                <a:spcPts val="800"/>
              </a:spcAft>
              <a:buSzPct val="100000"/>
              <a:buChar char="•"/>
            </a:pPr>
            <a:r>
              <a:rPr lang="en-US" sz="1200" dirty="0">
                <a:solidFill>
                  <a:srgbClr val="333344"/>
                </a:solidFill>
                <a:latin typeface="Arial" pitchFamily="34" charset="0"/>
                <a:ea typeface="Arial" pitchFamily="34" charset="-122"/>
                <a:cs typeface="Arial" pitchFamily="34" charset="-120"/>
              </a:rPr>
              <a:t>Rankings apply a 5-ticket minimum so small samples don’t distort the comparison — 69 stores were served YTD, with volume ranging from 1 to 20 tickets.</a:t>
            </a:r>
            <a:endParaRPr lang="en-US" sz="1200" dirty="0"/>
          </a:p>
          <a:p>
            <a:pPr marL="203200" indent="-203200">
              <a:lnSpc>
                <a:spcPts val="1600"/>
              </a:lnSpc>
              <a:buSzPct val="100000"/>
              <a:buChar char="•"/>
            </a:pPr>
            <a:r>
              <a:rPr lang="en-US" sz="1200" dirty="0">
                <a:solidFill>
                  <a:srgbClr val="333344"/>
                </a:solidFill>
                <a:latin typeface="Arial" pitchFamily="34" charset="0"/>
                <a:ea typeface="Arial" pitchFamily="34" charset="-122"/>
                <a:cs typeface="Arial" pitchFamily="34" charset="-120"/>
              </a:rPr>
              <a:t>Fresh Thyme #647 and #931 combine high ticket volume (14 and 12 eligible tickets) with the weakest SLA attainment — they are the clearest priority targets and are examined further on the Operational Hotspots slide.</a:t>
            </a:r>
            <a:endParaRPr lang="en-US" sz="1200" dirty="0"/>
          </a:p>
        </p:txBody>
      </p:sp>
      <p:sp>
        <p:nvSpPr>
          <p:cNvPr id="11" name="Text 7"/>
          <p:cNvSpPr/>
          <p:nvPr/>
        </p:nvSpPr>
        <p:spPr>
          <a:xfrm>
            <a:off x="457200" y="6537960"/>
            <a:ext cx="9601200" cy="274320"/>
          </a:xfrm>
          <a:prstGeom prst="rect">
            <a:avLst/>
          </a:prstGeom>
          <a:noFill/>
          <a:ln/>
        </p:spPr>
        <p:txBody>
          <a:bodyPr wrap="square" rtlCol="0" anchor="ctr"/>
          <a:lstStyle/>
          <a:p>
            <a:pPr marL="0" indent="0" algn="l">
              <a:buNone/>
            </a:pPr>
            <a:r>
              <a:rPr lang="en-US" sz="800" dirty="0">
                <a:solidFill>
                  <a:srgbClr val="9AA3B5"/>
                </a:solidFill>
                <a:latin typeface="Arial" pitchFamily="34" charset="0"/>
                <a:ea typeface="Arial" pitchFamily="34" charset="-122"/>
                <a:cs typeface="Arial" pitchFamily="34" charset="-120"/>
              </a:rPr>
              <a:t>Fresh Thyme YTD SLA Performance Report  |  Aug 2025 – Aug 2026  |  Vendor: NCR  |  Account: Meijer Inc.</a:t>
            </a:r>
            <a:endParaRPr lang="en-US" sz="800" dirty="0"/>
          </a:p>
        </p:txBody>
      </p:sp>
      <p:sp>
        <p:nvSpPr>
          <p:cNvPr id="12" name="Text 8"/>
          <p:cNvSpPr/>
          <p:nvPr/>
        </p:nvSpPr>
        <p:spPr>
          <a:xfrm>
            <a:off x="11521440" y="6537960"/>
            <a:ext cx="457200" cy="274320"/>
          </a:xfrm>
          <a:prstGeom prst="rect">
            <a:avLst/>
          </a:prstGeom>
          <a:noFill/>
          <a:ln/>
        </p:spPr>
        <p:txBody>
          <a:bodyPr wrap="square" rtlCol="0" anchor="ctr"/>
          <a:lstStyle/>
          <a:p>
            <a:pPr marL="0" indent="0" algn="r">
              <a:buNone/>
            </a:pPr>
            <a:r>
              <a:rPr lang="en-US" sz="800" dirty="0">
                <a:solidFill>
                  <a:srgbClr val="9AA3B5"/>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Operational Hotspots</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300" i="1" dirty="0">
                <a:solidFill>
                  <a:srgbClr val="5A5A5A"/>
                </a:solidFill>
                <a:latin typeface="Arial" pitchFamily="34" charset="0"/>
                <a:ea typeface="Arial" pitchFamily="34" charset="-122"/>
                <a:cs typeface="Arial" pitchFamily="34" charset="-120"/>
              </a:rPr>
              <a:t>High-volume stores below target and the largest single contributors to SLA misses</a:t>
            </a:r>
            <a:endParaRPr lang="en-US" sz="1300" dirty="0"/>
          </a:p>
        </p:txBody>
      </p:sp>
      <p:sp>
        <p:nvSpPr>
          <p:cNvPr id="4" name="Text 2"/>
          <p:cNvSpPr/>
          <p:nvPr/>
        </p:nvSpPr>
        <p:spPr>
          <a:xfrm>
            <a:off x="457200" y="1371600"/>
            <a:ext cx="6400800" cy="274320"/>
          </a:xfrm>
          <a:prstGeom prst="rect">
            <a:avLst/>
          </a:prstGeom>
          <a:noFill/>
          <a:ln/>
        </p:spPr>
        <p:txBody>
          <a:bodyPr wrap="square" rtlCol="0" anchor="ctr"/>
          <a:lstStyle/>
          <a:p>
            <a:pPr marL="0" indent="0">
              <a:buNone/>
            </a:pPr>
            <a:r>
              <a:rPr lang="en-US" sz="1200" b="1" dirty="0">
                <a:solidFill>
                  <a:srgbClr val="1F3864"/>
                </a:solidFill>
                <a:latin typeface="Arial" pitchFamily="34" charset="0"/>
                <a:ea typeface="Arial" pitchFamily="34" charset="-122"/>
                <a:cs typeface="Arial" pitchFamily="34" charset="-120"/>
              </a:rPr>
              <a:t>HIGH-VOLUME STORES BELOW 80% SLA (10+ TICKETS)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486400" cy="2304288"/>
        </p:xfrm>
        <a:graphic>
          <a:graphicData uri="http://schemas.openxmlformats.org/drawingml/2006/table">
            <a:tbl>
              <a:tblPr/>
              <a:tblGrid>
                <a:gridCol w="19202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384048">
                <a:tc>
                  <a:txBody>
                    <a:bodyPr/>
                    <a:lstStyle/>
                    <a:p>
                      <a:pPr marL="0" indent="0">
                        <a:buNone/>
                      </a:pPr>
                      <a:r>
                        <a:rPr lang="en-US" sz="1050" b="1" dirty="0">
                          <a:solidFill>
                            <a:srgbClr val="FFFFFF"/>
                          </a:solidFill>
                          <a:latin typeface="Arial" pitchFamily="34" charset="0"/>
                          <a:ea typeface="Arial" pitchFamily="34" charset="-122"/>
                          <a:cs typeface="Arial" pitchFamily="34" charset="-120"/>
                        </a:rPr>
                        <a:t>Store</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City</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Total Tickets</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SLA %</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384048">
                <a:tc>
                  <a:txBody>
                    <a:bodyPr/>
                    <a:lstStyle/>
                    <a:p>
                      <a:pPr marL="0" indent="0">
                        <a:buNone/>
                      </a:pPr>
                      <a:r>
                        <a:rPr lang="en-US" sz="1050" dirty="0">
                          <a:solidFill>
                            <a:srgbClr val="000000"/>
                          </a:solidFill>
                          <a:latin typeface="Arial" pitchFamily="34" charset="0"/>
                          <a:ea typeface="Arial" pitchFamily="34" charset="-122"/>
                          <a:cs typeface="Arial" pitchFamily="34" charset="-120"/>
                        </a:rPr>
                        <a:t>Fresh Thyme #647</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Portage, MI</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latin typeface="Arial" pitchFamily="34" charset="0"/>
                          <a:ea typeface="Arial" pitchFamily="34" charset="-122"/>
                          <a:cs typeface="Arial" pitchFamily="34" charset="-120"/>
                        </a:rPr>
                        <a:t>16</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B02A2A"/>
                          </a:solidFill>
                          <a:latin typeface="Arial" pitchFamily="34" charset="0"/>
                          <a:ea typeface="Arial" pitchFamily="34" charset="-122"/>
                          <a:cs typeface="Arial" pitchFamily="34" charset="-120"/>
                        </a:rPr>
                        <a:t>28.6%</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1"/>
                  </a:ext>
                </a:extLst>
              </a:tr>
              <a:tr h="384048">
                <a:tc>
                  <a:txBody>
                    <a:bodyPr/>
                    <a:lstStyle/>
                    <a:p>
                      <a:pPr marL="0" indent="0">
                        <a:buNone/>
                      </a:pPr>
                      <a:r>
                        <a:rPr lang="en-US" sz="1050" dirty="0">
                          <a:solidFill>
                            <a:srgbClr val="000000"/>
                          </a:solidFill>
                          <a:latin typeface="Arial" pitchFamily="34" charset="0"/>
                          <a:ea typeface="Arial" pitchFamily="34" charset="-122"/>
                          <a:cs typeface="Arial" pitchFamily="34" charset="-120"/>
                        </a:rPr>
                        <a:t>Fresh Thyme #931</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North Canton, OH</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050" dirty="0">
                          <a:solidFill>
                            <a:srgbClr val="000000"/>
                          </a:solidFill>
                          <a:latin typeface="Arial" pitchFamily="34" charset="0"/>
                          <a:ea typeface="Arial" pitchFamily="34" charset="-122"/>
                          <a:cs typeface="Arial" pitchFamily="34" charset="-120"/>
                        </a:rPr>
                        <a:t>17</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050" b="1" dirty="0">
                          <a:solidFill>
                            <a:srgbClr val="B02A2A"/>
                          </a:solidFill>
                          <a:latin typeface="Arial" pitchFamily="34" charset="0"/>
                          <a:ea typeface="Arial" pitchFamily="34" charset="-122"/>
                          <a:cs typeface="Arial" pitchFamily="34" charset="-120"/>
                        </a:rPr>
                        <a:t>41.7%</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2"/>
                  </a:ext>
                </a:extLst>
              </a:tr>
              <a:tr h="384048">
                <a:tc>
                  <a:txBody>
                    <a:bodyPr/>
                    <a:lstStyle/>
                    <a:p>
                      <a:pPr marL="0" indent="0">
                        <a:buNone/>
                      </a:pPr>
                      <a:r>
                        <a:rPr lang="en-US" sz="1050" dirty="0">
                          <a:solidFill>
                            <a:srgbClr val="000000"/>
                          </a:solidFill>
                          <a:latin typeface="Arial" pitchFamily="34" charset="0"/>
                          <a:ea typeface="Arial" pitchFamily="34" charset="-122"/>
                          <a:cs typeface="Arial" pitchFamily="34" charset="-120"/>
                        </a:rPr>
                        <a:t>Fresh Thyme #637</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Crystal Lake, IL</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latin typeface="Arial" pitchFamily="34" charset="0"/>
                          <a:ea typeface="Arial" pitchFamily="34" charset="-122"/>
                          <a:cs typeface="Arial" pitchFamily="34" charset="-120"/>
                        </a:rPr>
                        <a:t>11</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B02A2A"/>
                          </a:solidFill>
                          <a:latin typeface="Arial" pitchFamily="34" charset="0"/>
                          <a:ea typeface="Arial" pitchFamily="34" charset="-122"/>
                          <a:cs typeface="Arial" pitchFamily="34" charset="-120"/>
                        </a:rPr>
                        <a:t>45.5%</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3"/>
                  </a:ext>
                </a:extLst>
              </a:tr>
              <a:tr h="384048">
                <a:tc>
                  <a:txBody>
                    <a:bodyPr/>
                    <a:lstStyle/>
                    <a:p>
                      <a:pPr marL="0" indent="0">
                        <a:buNone/>
                      </a:pPr>
                      <a:r>
                        <a:rPr lang="en-US" sz="1050" dirty="0">
                          <a:solidFill>
                            <a:srgbClr val="000000"/>
                          </a:solidFill>
                          <a:latin typeface="Arial" pitchFamily="34" charset="0"/>
                          <a:ea typeface="Arial" pitchFamily="34" charset="-122"/>
                          <a:cs typeface="Arial" pitchFamily="34" charset="-120"/>
                        </a:rPr>
                        <a:t>Fresh Thyme #638</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Bloomington, IL</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050" dirty="0">
                          <a:solidFill>
                            <a:srgbClr val="000000"/>
                          </a:solidFill>
                          <a:latin typeface="Arial" pitchFamily="34" charset="0"/>
                          <a:ea typeface="Arial" pitchFamily="34" charset="-122"/>
                          <a:cs typeface="Arial" pitchFamily="34" charset="-120"/>
                        </a:rPr>
                        <a:t>10</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050" b="1" dirty="0">
                          <a:solidFill>
                            <a:srgbClr val="B02A2A"/>
                          </a:solidFill>
                          <a:latin typeface="Arial" pitchFamily="34" charset="0"/>
                          <a:ea typeface="Arial" pitchFamily="34" charset="-122"/>
                          <a:cs typeface="Arial" pitchFamily="34" charset="-120"/>
                        </a:rPr>
                        <a:t>50.0%</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4"/>
                  </a:ext>
                </a:extLst>
              </a:tr>
              <a:tr h="384048">
                <a:tc>
                  <a:txBody>
                    <a:bodyPr/>
                    <a:lstStyle/>
                    <a:p>
                      <a:pPr marL="0" indent="0">
                        <a:buNone/>
                      </a:pPr>
                      <a:r>
                        <a:rPr lang="en-US" sz="1050" dirty="0">
                          <a:solidFill>
                            <a:srgbClr val="000000"/>
                          </a:solidFill>
                          <a:latin typeface="Arial" pitchFamily="34" charset="0"/>
                          <a:ea typeface="Arial" pitchFamily="34" charset="-122"/>
                          <a:cs typeface="Arial" pitchFamily="34" charset="-120"/>
                        </a:rPr>
                        <a:t>Fresh Thyme #544</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Arial" pitchFamily="34" charset="0"/>
                          <a:ea typeface="Arial" pitchFamily="34" charset="-122"/>
                          <a:cs typeface="Arial" pitchFamily="34" charset="-120"/>
                        </a:rPr>
                        <a:t>Savage, MN</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latin typeface="Arial" pitchFamily="34" charset="0"/>
                          <a:ea typeface="Arial" pitchFamily="34" charset="-122"/>
                          <a:cs typeface="Arial" pitchFamily="34" charset="-120"/>
                        </a:rPr>
                        <a:t>16</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B02A2A"/>
                          </a:solidFill>
                          <a:latin typeface="Arial" pitchFamily="34" charset="0"/>
                          <a:ea typeface="Arial" pitchFamily="34" charset="-122"/>
                          <a:cs typeface="Arial" pitchFamily="34" charset="-120"/>
                        </a:rPr>
                        <a:t>57.1%</a:t>
                      </a:r>
                      <a:endParaRPr lang="en-US" sz="105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5"/>
                  </a:ext>
                </a:extLst>
              </a:tr>
            </a:tbl>
          </a:graphicData>
        </a:graphic>
      </p:graphicFrame>
      <p:graphicFrame>
        <p:nvGraphicFramePr>
          <p:cNvPr id="5" name="Chart 0"/>
          <p:cNvGraphicFramePr/>
          <p:nvPr/>
        </p:nvGraphicFramePr>
        <p:xfrm>
          <a:off x="6263640" y="1371600"/>
          <a:ext cx="54406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457200" y="4709160"/>
            <a:ext cx="11247120" cy="1417320"/>
          </a:xfrm>
          <a:prstGeom prst="rect">
            <a:avLst/>
          </a:prstGeom>
          <a:solidFill>
            <a:srgbClr val="FBE7E7"/>
          </a:solidFill>
          <a:ln w="12700">
            <a:solidFill>
              <a:srgbClr val="EFC9C9"/>
            </a:solidFill>
            <a:prstDash val="solid"/>
          </a:ln>
        </p:spPr>
      </p:sp>
      <p:sp>
        <p:nvSpPr>
          <p:cNvPr id="8" name="Text 4"/>
          <p:cNvSpPr/>
          <p:nvPr/>
        </p:nvSpPr>
        <p:spPr>
          <a:xfrm>
            <a:off x="685800" y="4846320"/>
            <a:ext cx="4572000" cy="274320"/>
          </a:xfrm>
          <a:prstGeom prst="rect">
            <a:avLst/>
          </a:prstGeom>
          <a:noFill/>
          <a:ln/>
        </p:spPr>
        <p:txBody>
          <a:bodyPr wrap="square" rtlCol="0" anchor="ctr"/>
          <a:lstStyle/>
          <a:p>
            <a:pPr marL="0" indent="0">
              <a:buNone/>
            </a:pPr>
            <a:r>
              <a:rPr lang="en-US" sz="1300" b="1" dirty="0">
                <a:solidFill>
                  <a:srgbClr val="B02A2A"/>
                </a:solidFill>
                <a:latin typeface="Arial" pitchFamily="34" charset="0"/>
                <a:ea typeface="Arial" pitchFamily="34" charset="-122"/>
                <a:cs typeface="Arial" pitchFamily="34" charset="-120"/>
              </a:rPr>
              <a:t>Recommended Focus</a:t>
            </a:r>
            <a:endParaRPr lang="en-US" sz="1300" dirty="0"/>
          </a:p>
        </p:txBody>
      </p:sp>
      <p:sp>
        <p:nvSpPr>
          <p:cNvPr id="9" name="Text 5"/>
          <p:cNvSpPr/>
          <p:nvPr/>
        </p:nvSpPr>
        <p:spPr>
          <a:xfrm>
            <a:off x="685800" y="5138928"/>
            <a:ext cx="10789920" cy="914400"/>
          </a:xfrm>
          <a:prstGeom prst="rect">
            <a:avLst/>
          </a:prstGeom>
          <a:noFill/>
          <a:ln/>
        </p:spPr>
        <p:txBody>
          <a:bodyPr wrap="square" rtlCol="0" anchor="t"/>
          <a:lstStyle/>
          <a:p>
            <a:pPr marL="0" indent="0">
              <a:lnSpc>
                <a:spcPts val="1500"/>
              </a:lnSpc>
              <a:buNone/>
            </a:pPr>
            <a:r>
              <a:rPr lang="en-US" sz="1150" dirty="0">
                <a:solidFill>
                  <a:srgbClr val="5A1414"/>
                </a:solidFill>
                <a:latin typeface="Arial" pitchFamily="34" charset="0"/>
                <a:ea typeface="Arial" pitchFamily="34" charset="-122"/>
                <a:cs typeface="Arial" pitchFamily="34" charset="-120"/>
              </a:rPr>
              <a:t>Fresh Thyme #647 and #931 alone account for 17 of the 98 YTD SLA misses (17%) while running 20-30 points below the fleet average. Both combine high ticket volume with resolution times well above the network median (85.8 and 63.5 hrs vs. 30.2 hrs overall) — pointing to a parts, staffing, or dispatch issue specific to these locations rather than a broad network problem.</a:t>
            </a:r>
            <a:endParaRPr lang="en-US" sz="1150" dirty="0"/>
          </a:p>
        </p:txBody>
      </p:sp>
      <p:sp>
        <p:nvSpPr>
          <p:cNvPr id="10" name="Text 6"/>
          <p:cNvSpPr/>
          <p:nvPr/>
        </p:nvSpPr>
        <p:spPr>
          <a:xfrm>
            <a:off x="457200" y="6537960"/>
            <a:ext cx="9601200" cy="274320"/>
          </a:xfrm>
          <a:prstGeom prst="rect">
            <a:avLst/>
          </a:prstGeom>
          <a:noFill/>
          <a:ln/>
        </p:spPr>
        <p:txBody>
          <a:bodyPr wrap="square" rtlCol="0" anchor="ctr"/>
          <a:lstStyle/>
          <a:p>
            <a:pPr marL="0" indent="0" algn="l">
              <a:buNone/>
            </a:pPr>
            <a:r>
              <a:rPr lang="en-US" sz="800" dirty="0">
                <a:solidFill>
                  <a:srgbClr val="9AA3B5"/>
                </a:solidFill>
                <a:latin typeface="Arial" pitchFamily="34" charset="0"/>
                <a:ea typeface="Arial" pitchFamily="34" charset="-122"/>
                <a:cs typeface="Arial" pitchFamily="34" charset="-120"/>
              </a:rPr>
              <a:t>Fresh Thyme YTD SLA Performance Report  |  Aug 2025 – Aug 2026  |  Vendor: NCR  |  Account: Meijer Inc.</a:t>
            </a:r>
            <a:endParaRPr lang="en-US" sz="800" dirty="0"/>
          </a:p>
        </p:txBody>
      </p:sp>
      <p:sp>
        <p:nvSpPr>
          <p:cNvPr id="11" name="Text 7"/>
          <p:cNvSpPr/>
          <p:nvPr/>
        </p:nvSpPr>
        <p:spPr>
          <a:xfrm>
            <a:off x="11521440" y="6537960"/>
            <a:ext cx="457200" cy="274320"/>
          </a:xfrm>
          <a:prstGeom prst="rect">
            <a:avLst/>
          </a:prstGeom>
          <a:noFill/>
          <a:ln/>
        </p:spPr>
        <p:txBody>
          <a:bodyPr wrap="square" rtlCol="0" anchor="ctr"/>
          <a:lstStyle/>
          <a:p>
            <a:pPr marL="0" indent="0" algn="r">
              <a:buNone/>
            </a:pPr>
            <a:r>
              <a:rPr lang="en-US" sz="800" dirty="0">
                <a:solidFill>
                  <a:srgbClr val="9AA3B5"/>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Technician Performance</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300" i="1" dirty="0">
                <a:solidFill>
                  <a:srgbClr val="5A5A5A"/>
                </a:solidFill>
                <a:latin typeface="Arial" pitchFamily="34" charset="0"/>
                <a:ea typeface="Arial" pitchFamily="34" charset="-122"/>
                <a:cs typeface="Arial" pitchFamily="34" charset="-120"/>
              </a:rPr>
              <a:t>Strongest and weakest technicians by SLA % (minimum 5 SLA-relevant tickets)</a:t>
            </a:r>
            <a:endParaRPr lang="en-US" sz="1300" dirty="0"/>
          </a:p>
        </p:txBody>
      </p:sp>
      <p:sp>
        <p:nvSpPr>
          <p:cNvPr id="4" name="Text 2"/>
          <p:cNvSpPr/>
          <p:nvPr/>
        </p:nvSpPr>
        <p:spPr>
          <a:xfrm>
            <a:off x="457200" y="1371600"/>
            <a:ext cx="5486400" cy="320040"/>
          </a:xfrm>
          <a:prstGeom prst="rect">
            <a:avLst/>
          </a:prstGeom>
          <a:noFill/>
          <a:ln/>
        </p:spPr>
        <p:txBody>
          <a:bodyPr wrap="square" rtlCol="0" anchor="ctr"/>
          <a:lstStyle/>
          <a:p>
            <a:pPr marL="0" indent="0">
              <a:buNone/>
            </a:pPr>
            <a:r>
              <a:rPr lang="en-US" sz="1300" b="1" dirty="0">
                <a:solidFill>
                  <a:srgbClr val="1E7A34"/>
                </a:solidFill>
                <a:latin typeface="Arial" pitchFamily="34" charset="0"/>
                <a:ea typeface="Arial" pitchFamily="34" charset="-122"/>
                <a:cs typeface="Arial" pitchFamily="34" charset="-120"/>
              </a:rPr>
              <a:t>TOP PERFORMERS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5486400" cy="2304288"/>
        </p:xfrm>
        <a:graphic>
          <a:graphicData uri="http://schemas.openxmlformats.org/drawingml/2006/table">
            <a:tbl>
              <a:tblPr/>
              <a:tblGrid>
                <a:gridCol w="3657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Arial" pitchFamily="34" charset="0"/>
                          <a:ea typeface="Arial" pitchFamily="34" charset="-122"/>
                          <a:cs typeface="Arial" pitchFamily="34" charset="-120"/>
                        </a:rPr>
                        <a:t>Technician</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SLA Eligible</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SLA %</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Rassam Zaid</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11</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7A34"/>
                          </a:solidFill>
                          <a:latin typeface="Arial" pitchFamily="34" charset="0"/>
                          <a:ea typeface="Arial" pitchFamily="34" charset="-122"/>
                          <a:cs typeface="Arial" pitchFamily="34" charset="-120"/>
                        </a:rPr>
                        <a:t>100.0%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5F3E8"/>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Welton Kira</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1E7A34"/>
                          </a:solidFill>
                          <a:latin typeface="Arial" pitchFamily="34" charset="0"/>
                          <a:ea typeface="Arial" pitchFamily="34" charset="-122"/>
                          <a:cs typeface="Arial" pitchFamily="34" charset="-120"/>
                        </a:rPr>
                        <a:t>100.0%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5F3E8"/>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Bullock Todd</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7A34"/>
                          </a:solidFill>
                          <a:latin typeface="Arial" pitchFamily="34" charset="0"/>
                          <a:ea typeface="Arial" pitchFamily="34" charset="-122"/>
                          <a:cs typeface="Arial" pitchFamily="34" charset="-120"/>
                        </a:rPr>
                        <a:t>100.0%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5F3E8"/>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Al-Azawy Mustafa</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1E7A34"/>
                          </a:solidFill>
                          <a:latin typeface="Arial" pitchFamily="34" charset="0"/>
                          <a:ea typeface="Arial" pitchFamily="34" charset="-122"/>
                          <a:cs typeface="Arial" pitchFamily="34" charset="-120"/>
                        </a:rPr>
                        <a:t>100.0%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5F3E8"/>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Browall Chris</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7A34"/>
                          </a:solidFill>
                          <a:latin typeface="Arial" pitchFamily="34" charset="0"/>
                          <a:ea typeface="Arial" pitchFamily="34" charset="-122"/>
                          <a:cs typeface="Arial" pitchFamily="34" charset="-120"/>
                        </a:rPr>
                        <a:t>100.0%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5F3E8"/>
                    </a:solidFill>
                  </a:tcPr>
                </a:tc>
                <a:extLst>
                  <a:ext uri="{0D108BD9-81ED-4DB2-BD59-A6C34878D82A}">
                    <a16:rowId xmlns:a16="http://schemas.microsoft.com/office/drawing/2014/main" val="10005"/>
                  </a:ext>
                </a:extLst>
              </a:tr>
            </a:tbl>
          </a:graphicData>
        </a:graphic>
      </p:graphicFrame>
      <p:sp>
        <p:nvSpPr>
          <p:cNvPr id="6" name="Text 3"/>
          <p:cNvSpPr/>
          <p:nvPr/>
        </p:nvSpPr>
        <p:spPr>
          <a:xfrm>
            <a:off x="6263640" y="1371600"/>
            <a:ext cx="5486400" cy="320040"/>
          </a:xfrm>
          <a:prstGeom prst="rect">
            <a:avLst/>
          </a:prstGeom>
          <a:noFill/>
          <a:ln/>
        </p:spPr>
        <p:txBody>
          <a:bodyPr wrap="square" rtlCol="0" anchor="ctr"/>
          <a:lstStyle/>
          <a:p>
            <a:pPr marL="0" indent="0">
              <a:buNone/>
            </a:pPr>
            <a:r>
              <a:rPr lang="en-US" sz="1300" b="1" dirty="0">
                <a:solidFill>
                  <a:srgbClr val="B02A2A"/>
                </a:solidFill>
                <a:latin typeface="Arial" pitchFamily="34" charset="0"/>
                <a:ea typeface="Arial" pitchFamily="34" charset="-122"/>
                <a:cs typeface="Arial" pitchFamily="34" charset="-120"/>
              </a:rPr>
              <a:t>PRIORITY FOLLOW-UP</a:t>
            </a:r>
            <a:endParaRPr lang="en-US" sz="13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263640" y="1737360"/>
          <a:ext cx="5486400" cy="2304288"/>
        </p:xfrm>
        <a:graphic>
          <a:graphicData uri="http://schemas.openxmlformats.org/drawingml/2006/table">
            <a:tbl>
              <a:tblPr/>
              <a:tblGrid>
                <a:gridCol w="3657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Arial" pitchFamily="34" charset="0"/>
                          <a:ea typeface="Arial" pitchFamily="34" charset="-122"/>
                          <a:cs typeface="Arial" pitchFamily="34" charset="-120"/>
                        </a:rPr>
                        <a:t>Technician</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SLA Eligible</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SLA %</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Bertsch Steven</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B02A2A"/>
                          </a:solidFill>
                          <a:latin typeface="Arial" pitchFamily="34" charset="0"/>
                          <a:ea typeface="Arial" pitchFamily="34" charset="-122"/>
                          <a:cs typeface="Arial" pitchFamily="34" charset="-120"/>
                        </a:rPr>
                        <a:t>33.3%</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Droste Michael</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B02A2A"/>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Willea Brandon</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B02A2A"/>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Ogunnowo Olufemi</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B02A2A"/>
                          </a:solidFill>
                          <a:latin typeface="Arial" pitchFamily="34" charset="0"/>
                          <a:ea typeface="Arial" pitchFamily="34" charset="-122"/>
                          <a:cs typeface="Arial" pitchFamily="34" charset="-120"/>
                        </a:rPr>
                        <a:t>42.9%</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August Ronald</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Arial" pitchFamily="34" charset="0"/>
                          <a:ea typeface="Arial" pitchFamily="34" charset="-122"/>
                          <a:cs typeface="Arial" pitchFamily="34" charset="-120"/>
                        </a:rPr>
                        <a:t>20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B02A2A"/>
                          </a:solidFill>
                          <a:latin typeface="Arial" pitchFamily="34" charset="0"/>
                          <a:ea typeface="Arial" pitchFamily="34" charset="-122"/>
                          <a:cs typeface="Arial" pitchFamily="34" charset="-120"/>
                        </a:rPr>
                        <a:t>50.0%</a:t>
                      </a:r>
                      <a:endParaRPr lang="en-US" sz="1100" dirty="0">
                        <a:latin typeface="Arial" charset="0"/>
                        <a:ea typeface="Arial" charset="0"/>
                        <a:cs typeface="Arial" charset="0"/>
                      </a:endParaRPr>
                    </a:p>
                  </a:txBody>
                  <a:tcP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BE7E7"/>
                    </a:solidFill>
                  </a:tcPr>
                </a:tc>
                <a:extLst>
                  <a:ext uri="{0D108BD9-81ED-4DB2-BD59-A6C34878D82A}">
                    <a16:rowId xmlns:a16="http://schemas.microsoft.com/office/drawing/2014/main" val="10005"/>
                  </a:ext>
                </a:extLst>
              </a:tr>
            </a:tbl>
          </a:graphicData>
        </a:graphic>
      </p:graphicFrame>
      <p:sp>
        <p:nvSpPr>
          <p:cNvPr id="8" name="Shape 4"/>
          <p:cNvSpPr/>
          <p:nvPr/>
        </p:nvSpPr>
        <p:spPr>
          <a:xfrm>
            <a:off x="457200" y="4160520"/>
            <a:ext cx="11247120" cy="1965960"/>
          </a:xfrm>
          <a:prstGeom prst="rect">
            <a:avLst/>
          </a:prstGeom>
          <a:solidFill>
            <a:srgbClr val="F4F6FB"/>
          </a:solidFill>
          <a:ln w="12700">
            <a:solidFill>
              <a:srgbClr val="E1E6F0"/>
            </a:solidFill>
            <a:prstDash val="solid"/>
          </a:ln>
        </p:spPr>
      </p:sp>
      <p:sp>
        <p:nvSpPr>
          <p:cNvPr id="9" name="Text 5"/>
          <p:cNvSpPr/>
          <p:nvPr/>
        </p:nvSpPr>
        <p:spPr>
          <a:xfrm>
            <a:off x="685800" y="4315968"/>
            <a:ext cx="4572000" cy="320040"/>
          </a:xfrm>
          <a:prstGeom prst="rect">
            <a:avLst/>
          </a:prstGeom>
          <a:noFill/>
          <a:ln/>
        </p:spPr>
        <p:txBody>
          <a:bodyPr wrap="square" rtlCol="0" anchor="ctr"/>
          <a:lstStyle/>
          <a:p>
            <a:pPr marL="0" indent="0">
              <a:buNone/>
            </a:pPr>
            <a:r>
              <a:rPr lang="en-US" sz="1300" b="1" dirty="0">
                <a:solidFill>
                  <a:srgbClr val="1F3864"/>
                </a:solidFill>
                <a:latin typeface="Arial" pitchFamily="34" charset="0"/>
                <a:ea typeface="Arial" pitchFamily="34" charset="-122"/>
                <a:cs typeface="Arial" pitchFamily="34" charset="-120"/>
              </a:rPr>
              <a:t>Reading this table</a:t>
            </a:r>
            <a:endParaRPr lang="en-US" sz="1300" dirty="0"/>
          </a:p>
        </p:txBody>
      </p:sp>
      <p:sp>
        <p:nvSpPr>
          <p:cNvPr id="10" name="Text 6"/>
          <p:cNvSpPr/>
          <p:nvPr/>
        </p:nvSpPr>
        <p:spPr>
          <a:xfrm>
            <a:off x="685800" y="4663440"/>
            <a:ext cx="10789920" cy="1371600"/>
          </a:xfrm>
          <a:prstGeom prst="rect">
            <a:avLst/>
          </a:prstGeom>
          <a:noFill/>
          <a:ln/>
        </p:spPr>
        <p:txBody>
          <a:bodyPr wrap="square" rtlCol="0" anchor="t"/>
          <a:lstStyle/>
          <a:p>
            <a:pPr marL="203200" indent="-203200">
              <a:lnSpc>
                <a:spcPts val="1600"/>
              </a:lnSpc>
              <a:spcAft>
                <a:spcPts val="800"/>
              </a:spcAft>
              <a:buSzPct val="100000"/>
              <a:buChar char="•"/>
            </a:pPr>
            <a:r>
              <a:rPr lang="en-US" sz="1200" dirty="0">
                <a:solidFill>
                  <a:srgbClr val="333344"/>
                </a:solidFill>
                <a:latin typeface="Arial" pitchFamily="34" charset="0"/>
                <a:ea typeface="Arial" pitchFamily="34" charset="-122"/>
                <a:cs typeface="Arial" pitchFamily="34" charset="-120"/>
              </a:rPr>
              <a:t>151 technicians touched tickets YTD; only 37 handled 5 or more SLA-relevant tickets and are shown here — the rest are in the workbook but excluded from ranking as too small a sample to compare fairly.</a:t>
            </a:r>
            <a:endParaRPr lang="en-US" sz="1200" dirty="0"/>
          </a:p>
          <a:p>
            <a:pPr marL="203200" indent="-203200">
              <a:lnSpc>
                <a:spcPts val="1600"/>
              </a:lnSpc>
              <a:buSzPct val="100000"/>
              <a:buChar char="•"/>
            </a:pPr>
            <a:r>
              <a:rPr lang="en-US" sz="1200" dirty="0">
                <a:solidFill>
                  <a:srgbClr val="333344"/>
                </a:solidFill>
                <a:latin typeface="Arial" pitchFamily="34" charset="0"/>
                <a:ea typeface="Arial" pitchFamily="34" charset="-122"/>
                <a:cs typeface="Arial" pitchFamily="34" charset="-120"/>
              </a:rPr>
              <a:t>August Ronald carries the heaviest load among lower performers (20 tickets, 50.0% SLA) and is the single largest individual contributor to YTD misses; Carlson Paul (21 tickets, 64.3% SLA — see workbook) is the next largest by ticket volume. Both warrant a workload and coaching review before broader staffing conclusions are drawn.</a:t>
            </a:r>
            <a:endParaRPr lang="en-US" sz="1200" dirty="0"/>
          </a:p>
        </p:txBody>
      </p:sp>
      <p:sp>
        <p:nvSpPr>
          <p:cNvPr id="11" name="Text 7"/>
          <p:cNvSpPr/>
          <p:nvPr/>
        </p:nvSpPr>
        <p:spPr>
          <a:xfrm>
            <a:off x="457200" y="6537960"/>
            <a:ext cx="9601200" cy="274320"/>
          </a:xfrm>
          <a:prstGeom prst="rect">
            <a:avLst/>
          </a:prstGeom>
          <a:noFill/>
          <a:ln/>
        </p:spPr>
        <p:txBody>
          <a:bodyPr wrap="square" rtlCol="0" anchor="ctr"/>
          <a:lstStyle/>
          <a:p>
            <a:pPr marL="0" indent="0" algn="l">
              <a:buNone/>
            </a:pPr>
            <a:r>
              <a:rPr lang="en-US" sz="800" dirty="0">
                <a:solidFill>
                  <a:srgbClr val="9AA3B5"/>
                </a:solidFill>
                <a:latin typeface="Arial" pitchFamily="34" charset="0"/>
                <a:ea typeface="Arial" pitchFamily="34" charset="-122"/>
                <a:cs typeface="Arial" pitchFamily="34" charset="-120"/>
              </a:rPr>
              <a:t>Fresh Thyme YTD SLA Performance Report  |  Aug 2025 – Aug 2026  |  Vendor: NCR  |  Account: Meijer Inc.</a:t>
            </a:r>
            <a:endParaRPr lang="en-US" sz="800" dirty="0"/>
          </a:p>
        </p:txBody>
      </p:sp>
      <p:sp>
        <p:nvSpPr>
          <p:cNvPr id="12" name="Text 8"/>
          <p:cNvSpPr/>
          <p:nvPr/>
        </p:nvSpPr>
        <p:spPr>
          <a:xfrm>
            <a:off x="11521440" y="6537960"/>
            <a:ext cx="457200" cy="274320"/>
          </a:xfrm>
          <a:prstGeom prst="rect">
            <a:avLst/>
          </a:prstGeom>
          <a:noFill/>
          <a:ln/>
        </p:spPr>
        <p:txBody>
          <a:bodyPr wrap="square" rtlCol="0" anchor="ctr"/>
          <a:lstStyle/>
          <a:p>
            <a:pPr marL="0" indent="0" algn="r">
              <a:buNone/>
            </a:pPr>
            <a:r>
              <a:rPr lang="en-US" sz="800" dirty="0">
                <a:solidFill>
                  <a:srgbClr val="9AA3B5"/>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Resolution Performance</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300" i="1" dirty="0">
                <a:solidFill>
                  <a:srgbClr val="5A5A5A"/>
                </a:solidFill>
                <a:latin typeface="Arial" pitchFamily="34" charset="0"/>
                <a:ea typeface="Arial" pitchFamily="34" charset="-122"/>
                <a:cs typeface="Arial" pitchFamily="34" charset="-120"/>
              </a:rPr>
              <a:t>Time-to-resolve trends across the network</a:t>
            </a:r>
            <a:endParaRPr lang="en-US" sz="1300" dirty="0"/>
          </a:p>
        </p:txBody>
      </p:sp>
      <p:sp>
        <p:nvSpPr>
          <p:cNvPr id="4" name="Shape 2"/>
          <p:cNvSpPr/>
          <p:nvPr/>
        </p:nvSpPr>
        <p:spPr>
          <a:xfrm>
            <a:off x="457200" y="1325880"/>
            <a:ext cx="2651760" cy="1097280"/>
          </a:xfrm>
          <a:prstGeom prst="rect">
            <a:avLst/>
          </a:prstGeom>
          <a:solidFill>
            <a:srgbClr val="F4F6FB"/>
          </a:solidFill>
          <a:ln w="12700">
            <a:solidFill>
              <a:srgbClr val="E1E6F0"/>
            </a:solidFill>
            <a:prstDash val="solid"/>
          </a:ln>
        </p:spPr>
      </p:sp>
      <p:sp>
        <p:nvSpPr>
          <p:cNvPr id="5" name="Shape 3"/>
          <p:cNvSpPr/>
          <p:nvPr/>
        </p:nvSpPr>
        <p:spPr>
          <a:xfrm>
            <a:off x="457200" y="1325880"/>
            <a:ext cx="45720" cy="1097280"/>
          </a:xfrm>
          <a:prstGeom prst="rect">
            <a:avLst/>
          </a:prstGeom>
          <a:solidFill>
            <a:srgbClr val="1F3864"/>
          </a:solidFill>
          <a:ln/>
        </p:spPr>
      </p:sp>
      <p:sp>
        <p:nvSpPr>
          <p:cNvPr id="6" name="Text 4"/>
          <p:cNvSpPr/>
          <p:nvPr/>
        </p:nvSpPr>
        <p:spPr>
          <a:xfrm>
            <a:off x="621792" y="1435608"/>
            <a:ext cx="2377440" cy="274320"/>
          </a:xfrm>
          <a:prstGeom prst="rect">
            <a:avLst/>
          </a:prstGeom>
          <a:noFill/>
          <a:ln/>
        </p:spPr>
        <p:txBody>
          <a:bodyPr wrap="square" rtlCol="0" anchor="ctr"/>
          <a:lstStyle/>
          <a:p>
            <a:pPr marL="0" indent="0">
              <a:buNone/>
            </a:pPr>
            <a:r>
              <a:rPr lang="en-US" sz="950" b="1" dirty="0">
                <a:solidFill>
                  <a:srgbClr val="5A5A5A"/>
                </a:solidFill>
                <a:latin typeface="Arial" pitchFamily="34" charset="0"/>
                <a:ea typeface="Arial" pitchFamily="34" charset="-122"/>
                <a:cs typeface="Arial" pitchFamily="34" charset="-120"/>
              </a:rPr>
              <a:t>AVG RESOLUTION TIME</a:t>
            </a:r>
            <a:endParaRPr lang="en-US" sz="950" dirty="0"/>
          </a:p>
        </p:txBody>
      </p:sp>
      <p:sp>
        <p:nvSpPr>
          <p:cNvPr id="7" name="Text 5"/>
          <p:cNvSpPr/>
          <p:nvPr/>
        </p:nvSpPr>
        <p:spPr>
          <a:xfrm>
            <a:off x="621792" y="1691640"/>
            <a:ext cx="2377440" cy="502920"/>
          </a:xfrm>
          <a:prstGeom prst="rect">
            <a:avLst/>
          </a:prstGeom>
          <a:noFill/>
          <a:ln/>
        </p:spPr>
        <p:txBody>
          <a:bodyPr wrap="square" rtlCol="0" anchor="ctr"/>
          <a:lstStyle/>
          <a:p>
            <a:pPr marL="0" indent="0">
              <a:buNone/>
            </a:pPr>
            <a:r>
              <a:rPr lang="en-US" sz="3000" b="1" dirty="0">
                <a:solidFill>
                  <a:srgbClr val="1F3864"/>
                </a:solidFill>
                <a:latin typeface="Arial" pitchFamily="34" charset="0"/>
                <a:ea typeface="Arial" pitchFamily="34" charset="-122"/>
                <a:cs typeface="Arial" pitchFamily="34" charset="-120"/>
              </a:rPr>
              <a:t>30.2 hrs</a:t>
            </a:r>
            <a:endParaRPr lang="en-US" sz="3000" dirty="0"/>
          </a:p>
        </p:txBody>
      </p:sp>
      <p:sp>
        <p:nvSpPr>
          <p:cNvPr id="8" name="Shape 6"/>
          <p:cNvSpPr/>
          <p:nvPr/>
        </p:nvSpPr>
        <p:spPr>
          <a:xfrm>
            <a:off x="3246120" y="1325880"/>
            <a:ext cx="2651760" cy="1097280"/>
          </a:xfrm>
          <a:prstGeom prst="rect">
            <a:avLst/>
          </a:prstGeom>
          <a:solidFill>
            <a:srgbClr val="F4F6FB"/>
          </a:solidFill>
          <a:ln w="12700">
            <a:solidFill>
              <a:srgbClr val="E1E6F0"/>
            </a:solidFill>
            <a:prstDash val="solid"/>
          </a:ln>
        </p:spPr>
      </p:sp>
      <p:sp>
        <p:nvSpPr>
          <p:cNvPr id="9" name="Shape 7"/>
          <p:cNvSpPr/>
          <p:nvPr/>
        </p:nvSpPr>
        <p:spPr>
          <a:xfrm>
            <a:off x="3246120" y="1325880"/>
            <a:ext cx="45720" cy="1097280"/>
          </a:xfrm>
          <a:prstGeom prst="rect">
            <a:avLst/>
          </a:prstGeom>
          <a:solidFill>
            <a:srgbClr val="1F3864"/>
          </a:solidFill>
          <a:ln/>
        </p:spPr>
      </p:sp>
      <p:sp>
        <p:nvSpPr>
          <p:cNvPr id="10" name="Text 8"/>
          <p:cNvSpPr/>
          <p:nvPr/>
        </p:nvSpPr>
        <p:spPr>
          <a:xfrm>
            <a:off x="3410712" y="1435608"/>
            <a:ext cx="2377440" cy="274320"/>
          </a:xfrm>
          <a:prstGeom prst="rect">
            <a:avLst/>
          </a:prstGeom>
          <a:noFill/>
          <a:ln/>
        </p:spPr>
        <p:txBody>
          <a:bodyPr wrap="square" rtlCol="0" anchor="ctr"/>
          <a:lstStyle/>
          <a:p>
            <a:pPr marL="0" indent="0">
              <a:buNone/>
            </a:pPr>
            <a:r>
              <a:rPr lang="en-US" sz="950" b="1" dirty="0">
                <a:solidFill>
                  <a:srgbClr val="5A5A5A"/>
                </a:solidFill>
                <a:latin typeface="Arial" pitchFamily="34" charset="0"/>
                <a:ea typeface="Arial" pitchFamily="34" charset="-122"/>
                <a:cs typeface="Arial" pitchFamily="34" charset="-120"/>
              </a:rPr>
              <a:t>MEDIAN RESOLUTION TIME</a:t>
            </a:r>
            <a:endParaRPr lang="en-US" sz="950" dirty="0"/>
          </a:p>
        </p:txBody>
      </p:sp>
      <p:sp>
        <p:nvSpPr>
          <p:cNvPr id="11" name="Text 9"/>
          <p:cNvSpPr/>
          <p:nvPr/>
        </p:nvSpPr>
        <p:spPr>
          <a:xfrm>
            <a:off x="3410712" y="1691640"/>
            <a:ext cx="2377440" cy="502920"/>
          </a:xfrm>
          <a:prstGeom prst="rect">
            <a:avLst/>
          </a:prstGeom>
          <a:noFill/>
          <a:ln/>
        </p:spPr>
        <p:txBody>
          <a:bodyPr wrap="square" rtlCol="0" anchor="ctr"/>
          <a:lstStyle/>
          <a:p>
            <a:pPr marL="0" indent="0">
              <a:buNone/>
            </a:pPr>
            <a:r>
              <a:rPr lang="en-US" sz="3000" b="1" dirty="0">
                <a:solidFill>
                  <a:srgbClr val="1F3864"/>
                </a:solidFill>
                <a:latin typeface="Arial" pitchFamily="34" charset="0"/>
                <a:ea typeface="Arial" pitchFamily="34" charset="-122"/>
                <a:cs typeface="Arial" pitchFamily="34" charset="-120"/>
              </a:rPr>
              <a:t>14.0 hrs</a:t>
            </a:r>
            <a:endParaRPr lang="en-US" sz="3000" dirty="0"/>
          </a:p>
        </p:txBody>
      </p:sp>
      <p:sp>
        <p:nvSpPr>
          <p:cNvPr id="12" name="Shape 10"/>
          <p:cNvSpPr/>
          <p:nvPr/>
        </p:nvSpPr>
        <p:spPr>
          <a:xfrm>
            <a:off x="6035040" y="1325880"/>
            <a:ext cx="2651760" cy="1097280"/>
          </a:xfrm>
          <a:prstGeom prst="rect">
            <a:avLst/>
          </a:prstGeom>
          <a:solidFill>
            <a:srgbClr val="F4F6FB"/>
          </a:solidFill>
          <a:ln w="12700">
            <a:solidFill>
              <a:srgbClr val="E1E6F0"/>
            </a:solidFill>
            <a:prstDash val="solid"/>
          </a:ln>
        </p:spPr>
      </p:sp>
      <p:sp>
        <p:nvSpPr>
          <p:cNvPr id="13" name="Shape 11"/>
          <p:cNvSpPr/>
          <p:nvPr/>
        </p:nvSpPr>
        <p:spPr>
          <a:xfrm>
            <a:off x="6035040" y="1325880"/>
            <a:ext cx="45720" cy="1097280"/>
          </a:xfrm>
          <a:prstGeom prst="rect">
            <a:avLst/>
          </a:prstGeom>
          <a:solidFill>
            <a:srgbClr val="B8860B"/>
          </a:solidFill>
          <a:ln/>
        </p:spPr>
      </p:sp>
      <p:sp>
        <p:nvSpPr>
          <p:cNvPr id="14" name="Text 12"/>
          <p:cNvSpPr/>
          <p:nvPr/>
        </p:nvSpPr>
        <p:spPr>
          <a:xfrm>
            <a:off x="6199632" y="1435608"/>
            <a:ext cx="2377440" cy="274320"/>
          </a:xfrm>
          <a:prstGeom prst="rect">
            <a:avLst/>
          </a:prstGeom>
          <a:noFill/>
          <a:ln/>
        </p:spPr>
        <p:txBody>
          <a:bodyPr wrap="square" rtlCol="0" anchor="ctr"/>
          <a:lstStyle/>
          <a:p>
            <a:pPr marL="0" indent="0">
              <a:buNone/>
            </a:pPr>
            <a:r>
              <a:rPr lang="en-US" sz="950" b="1" dirty="0">
                <a:solidFill>
                  <a:srgbClr val="5A5A5A"/>
                </a:solidFill>
                <a:latin typeface="Arial" pitchFamily="34" charset="0"/>
                <a:ea typeface="Arial" pitchFamily="34" charset="-122"/>
                <a:cs typeface="Arial" pitchFamily="34" charset="-120"/>
              </a:rPr>
              <a:t>90TH PERCENTILE</a:t>
            </a:r>
            <a:endParaRPr lang="en-US" sz="950" dirty="0"/>
          </a:p>
        </p:txBody>
      </p:sp>
      <p:sp>
        <p:nvSpPr>
          <p:cNvPr id="15" name="Text 13"/>
          <p:cNvSpPr/>
          <p:nvPr/>
        </p:nvSpPr>
        <p:spPr>
          <a:xfrm>
            <a:off x="6199632" y="1691640"/>
            <a:ext cx="2377440" cy="502920"/>
          </a:xfrm>
          <a:prstGeom prst="rect">
            <a:avLst/>
          </a:prstGeom>
          <a:noFill/>
          <a:ln/>
        </p:spPr>
        <p:txBody>
          <a:bodyPr wrap="square" rtlCol="0" anchor="ctr"/>
          <a:lstStyle/>
          <a:p>
            <a:pPr marL="0" indent="0">
              <a:buNone/>
            </a:pPr>
            <a:r>
              <a:rPr lang="en-US" sz="3000" b="1" dirty="0">
                <a:solidFill>
                  <a:srgbClr val="B8860B"/>
                </a:solidFill>
                <a:latin typeface="Arial" pitchFamily="34" charset="0"/>
                <a:ea typeface="Arial" pitchFamily="34" charset="-122"/>
                <a:cs typeface="Arial" pitchFamily="34" charset="-120"/>
              </a:rPr>
              <a:t>73.9 hrs</a:t>
            </a:r>
            <a:endParaRPr lang="en-US" sz="3000" dirty="0"/>
          </a:p>
        </p:txBody>
      </p:sp>
      <p:sp>
        <p:nvSpPr>
          <p:cNvPr id="16" name="Shape 14"/>
          <p:cNvSpPr/>
          <p:nvPr/>
        </p:nvSpPr>
        <p:spPr>
          <a:xfrm>
            <a:off x="8823960" y="1325880"/>
            <a:ext cx="2880360" cy="1097280"/>
          </a:xfrm>
          <a:prstGeom prst="rect">
            <a:avLst/>
          </a:prstGeom>
          <a:solidFill>
            <a:srgbClr val="F4F6FB"/>
          </a:solidFill>
          <a:ln w="12700">
            <a:solidFill>
              <a:srgbClr val="E1E6F0"/>
            </a:solidFill>
            <a:prstDash val="solid"/>
          </a:ln>
        </p:spPr>
      </p:sp>
      <p:sp>
        <p:nvSpPr>
          <p:cNvPr id="17" name="Shape 15"/>
          <p:cNvSpPr/>
          <p:nvPr/>
        </p:nvSpPr>
        <p:spPr>
          <a:xfrm>
            <a:off x="8823960" y="1325880"/>
            <a:ext cx="45720" cy="1097280"/>
          </a:xfrm>
          <a:prstGeom prst="rect">
            <a:avLst/>
          </a:prstGeom>
          <a:solidFill>
            <a:srgbClr val="1F3864"/>
          </a:solidFill>
          <a:ln/>
        </p:spPr>
      </p:sp>
      <p:sp>
        <p:nvSpPr>
          <p:cNvPr id="18" name="Text 16"/>
          <p:cNvSpPr/>
          <p:nvPr/>
        </p:nvSpPr>
        <p:spPr>
          <a:xfrm>
            <a:off x="8988552" y="1435608"/>
            <a:ext cx="2606040" cy="274320"/>
          </a:xfrm>
          <a:prstGeom prst="rect">
            <a:avLst/>
          </a:prstGeom>
          <a:noFill/>
          <a:ln/>
        </p:spPr>
        <p:txBody>
          <a:bodyPr wrap="square" rtlCol="0" anchor="ctr"/>
          <a:lstStyle/>
          <a:p>
            <a:pPr marL="0" indent="0">
              <a:buNone/>
            </a:pPr>
            <a:r>
              <a:rPr lang="en-US" sz="950" b="1" dirty="0">
                <a:solidFill>
                  <a:srgbClr val="5A5A5A"/>
                </a:solidFill>
                <a:latin typeface="Arial" pitchFamily="34" charset="0"/>
                <a:ea typeface="Arial" pitchFamily="34" charset="-122"/>
                <a:cs typeface="Arial" pitchFamily="34" charset="-120"/>
              </a:rPr>
              <a:t>SEVERITY 1 VS. SEVERITY 2</a:t>
            </a:r>
            <a:endParaRPr lang="en-US" sz="950" dirty="0"/>
          </a:p>
        </p:txBody>
      </p:sp>
      <p:sp>
        <p:nvSpPr>
          <p:cNvPr id="19" name="Text 17"/>
          <p:cNvSpPr/>
          <p:nvPr/>
        </p:nvSpPr>
        <p:spPr>
          <a:xfrm>
            <a:off x="8988552" y="1691640"/>
            <a:ext cx="2606040" cy="502920"/>
          </a:xfrm>
          <a:prstGeom prst="rect">
            <a:avLst/>
          </a:prstGeom>
          <a:noFill/>
          <a:ln/>
        </p:spPr>
        <p:txBody>
          <a:bodyPr wrap="square" rtlCol="0" anchor="ctr"/>
          <a:lstStyle/>
          <a:p>
            <a:pPr marL="0" indent="0">
              <a:buNone/>
            </a:pPr>
            <a:r>
              <a:rPr lang="en-US" sz="2100" b="1" dirty="0">
                <a:solidFill>
                  <a:srgbClr val="1F3864"/>
                </a:solidFill>
                <a:latin typeface="Arial" pitchFamily="34" charset="0"/>
                <a:ea typeface="Arial" pitchFamily="34" charset="-122"/>
                <a:cs typeface="Arial" pitchFamily="34" charset="-120"/>
              </a:rPr>
              <a:t>20.2 vs 32.4 hrs</a:t>
            </a:r>
            <a:endParaRPr lang="en-US" sz="2100" dirty="0"/>
          </a:p>
        </p:txBody>
      </p:sp>
      <p:sp>
        <p:nvSpPr>
          <p:cNvPr id="20" name="Text 18"/>
          <p:cNvSpPr/>
          <p:nvPr/>
        </p:nvSpPr>
        <p:spPr>
          <a:xfrm>
            <a:off x="8988552" y="2130552"/>
            <a:ext cx="2606040" cy="256032"/>
          </a:xfrm>
          <a:prstGeom prst="rect">
            <a:avLst/>
          </a:prstGeom>
          <a:noFill/>
          <a:ln/>
        </p:spPr>
        <p:txBody>
          <a:bodyPr wrap="square" rtlCol="0" anchor="ctr"/>
          <a:lstStyle/>
          <a:p>
            <a:pPr marL="0" indent="0">
              <a:buNone/>
            </a:pPr>
            <a:r>
              <a:rPr lang="en-US" sz="900" i="1" dirty="0">
                <a:solidFill>
                  <a:srgbClr val="5A5A5A"/>
                </a:solidFill>
                <a:latin typeface="Arial" pitchFamily="34" charset="0"/>
                <a:ea typeface="Arial" pitchFamily="34" charset="-122"/>
                <a:cs typeface="Arial" pitchFamily="34" charset="-120"/>
              </a:rPr>
              <a:t>Avg resolution time, Sev 1 vs Sev 2</a:t>
            </a:r>
            <a:endParaRPr lang="en-US" sz="900" dirty="0"/>
          </a:p>
        </p:txBody>
      </p:sp>
      <p:graphicFrame>
        <p:nvGraphicFramePr>
          <p:cNvPr id="21" name="Chart 0"/>
          <p:cNvGraphicFramePr/>
          <p:nvPr/>
        </p:nvGraphicFramePr>
        <p:xfrm>
          <a:off x="457200" y="2697480"/>
          <a:ext cx="1124712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p:cNvSpPr/>
          <p:nvPr/>
        </p:nvSpPr>
        <p:spPr>
          <a:xfrm>
            <a:off x="457200" y="6537960"/>
            <a:ext cx="9601200" cy="274320"/>
          </a:xfrm>
          <a:prstGeom prst="rect">
            <a:avLst/>
          </a:prstGeom>
          <a:noFill/>
          <a:ln/>
        </p:spPr>
        <p:txBody>
          <a:bodyPr wrap="square" rtlCol="0" anchor="ctr"/>
          <a:lstStyle/>
          <a:p>
            <a:pPr marL="0" indent="0" algn="l">
              <a:buNone/>
            </a:pPr>
            <a:r>
              <a:rPr lang="en-US" sz="800" dirty="0">
                <a:solidFill>
                  <a:srgbClr val="9AA3B5"/>
                </a:solidFill>
                <a:latin typeface="Arial" pitchFamily="34" charset="0"/>
                <a:ea typeface="Arial" pitchFamily="34" charset="-122"/>
                <a:cs typeface="Arial" pitchFamily="34" charset="-120"/>
              </a:rPr>
              <a:t>Fresh Thyme YTD SLA Performance Report  |  Aug 2025 – Aug 2026  |  Vendor: NCR  |  Account: Meijer Inc.</a:t>
            </a:r>
            <a:endParaRPr lang="en-US" sz="800" dirty="0"/>
          </a:p>
        </p:txBody>
      </p:sp>
      <p:sp>
        <p:nvSpPr>
          <p:cNvPr id="23" name="Text 20"/>
          <p:cNvSpPr/>
          <p:nvPr/>
        </p:nvSpPr>
        <p:spPr>
          <a:xfrm>
            <a:off x="11521440" y="6537960"/>
            <a:ext cx="457200" cy="274320"/>
          </a:xfrm>
          <a:prstGeom prst="rect">
            <a:avLst/>
          </a:prstGeom>
          <a:noFill/>
          <a:ln/>
        </p:spPr>
        <p:txBody>
          <a:bodyPr wrap="square" rtlCol="0" anchor="ctr"/>
          <a:lstStyle/>
          <a:p>
            <a:pPr marL="0" indent="0" algn="r">
              <a:buNone/>
            </a:pPr>
            <a:r>
              <a:rPr lang="en-US" sz="800" dirty="0">
                <a:solidFill>
                  <a:srgbClr val="9AA3B5"/>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542"/>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Key Findings &amp; Recommended Actions</a:t>
            </a:r>
            <a:endParaRPr lang="en-US" sz="2800" dirty="0"/>
          </a:p>
        </p:txBody>
      </p:sp>
      <p:sp>
        <p:nvSpPr>
          <p:cNvPr id="3" name="Shape 1"/>
          <p:cNvSpPr/>
          <p:nvPr/>
        </p:nvSpPr>
        <p:spPr>
          <a:xfrm>
            <a:off x="457200" y="1371600"/>
            <a:ext cx="5440680" cy="1417320"/>
          </a:xfrm>
          <a:prstGeom prst="rect">
            <a:avLst/>
          </a:prstGeom>
          <a:solidFill>
            <a:srgbClr val="223259"/>
          </a:solidFill>
          <a:ln w="12700">
            <a:solidFill>
              <a:srgbClr val="35477A"/>
            </a:solidFill>
            <a:prstDash val="solid"/>
          </a:ln>
        </p:spPr>
      </p:sp>
      <p:sp>
        <p:nvSpPr>
          <p:cNvPr id="4" name="Shape 2"/>
          <p:cNvSpPr/>
          <p:nvPr/>
        </p:nvSpPr>
        <p:spPr>
          <a:xfrm>
            <a:off x="640080" y="1554480"/>
            <a:ext cx="457200" cy="457200"/>
          </a:xfrm>
          <a:prstGeom prst="ellipse">
            <a:avLst/>
          </a:prstGeom>
          <a:solidFill>
            <a:srgbClr val="CADCFC"/>
          </a:solidFill>
          <a:ln/>
        </p:spPr>
      </p:sp>
      <p:sp>
        <p:nvSpPr>
          <p:cNvPr id="5" name="Text 3"/>
          <p:cNvSpPr/>
          <p:nvPr/>
        </p:nvSpPr>
        <p:spPr>
          <a:xfrm>
            <a:off x="640080" y="1554480"/>
            <a:ext cx="457200" cy="457200"/>
          </a:xfrm>
          <a:prstGeom prst="rect">
            <a:avLst/>
          </a:prstGeom>
          <a:noFill/>
          <a:ln/>
        </p:spPr>
        <p:txBody>
          <a:bodyPr wrap="square" rtlCol="0" anchor="ctr"/>
          <a:lstStyle/>
          <a:p>
            <a:pPr marL="0" indent="0" algn="ctr">
              <a:buNone/>
            </a:pPr>
            <a:r>
              <a:rPr lang="en-US" sz="1800" b="1" dirty="0">
                <a:solidFill>
                  <a:srgbClr val="162542"/>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1234440" y="1508760"/>
            <a:ext cx="4480560"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YTD Adjusted SLA is 77.5%</a:t>
            </a:r>
            <a:endParaRPr lang="en-US" sz="1300" dirty="0"/>
          </a:p>
        </p:txBody>
      </p:sp>
      <p:sp>
        <p:nvSpPr>
          <p:cNvPr id="7" name="Text 5"/>
          <p:cNvSpPr/>
          <p:nvPr/>
        </p:nvSpPr>
        <p:spPr>
          <a:xfrm>
            <a:off x="1234440" y="1901952"/>
            <a:ext cx="4480560" cy="822960"/>
          </a:xfrm>
          <a:prstGeom prst="rect">
            <a:avLst/>
          </a:prstGeom>
          <a:noFill/>
          <a:ln/>
        </p:spPr>
        <p:txBody>
          <a:bodyPr wrap="square" rtlCol="0" anchor="t"/>
          <a:lstStyle/>
          <a:p>
            <a:pPr marL="0" indent="0">
              <a:lnSpc>
                <a:spcPts val="1300"/>
              </a:lnSpc>
              <a:buNone/>
            </a:pPr>
            <a:r>
              <a:rPr lang="en-US" sz="1000" dirty="0">
                <a:solidFill>
                  <a:srgbClr val="C9D3E8"/>
                </a:solidFill>
                <a:latin typeface="Arial" pitchFamily="34" charset="0"/>
                <a:ea typeface="Arial" pitchFamily="34" charset="-122"/>
                <a:cs typeface="Arial" pitchFamily="34" charset="-120"/>
              </a:rPr>
              <a:t>337 of 435 eligible tickets met, vs. a raw gross rate of 78.6% for the same population — mitigation review has a modest net effect on outcomes but a larger effect on which tickets are counted at all (134 of 569 excluded).</a:t>
            </a:r>
            <a:endParaRPr lang="en-US" sz="1000" dirty="0"/>
          </a:p>
        </p:txBody>
      </p:sp>
      <p:sp>
        <p:nvSpPr>
          <p:cNvPr id="8" name="Shape 6"/>
          <p:cNvSpPr/>
          <p:nvPr/>
        </p:nvSpPr>
        <p:spPr>
          <a:xfrm>
            <a:off x="6263640" y="1371600"/>
            <a:ext cx="5440680" cy="1417320"/>
          </a:xfrm>
          <a:prstGeom prst="rect">
            <a:avLst/>
          </a:prstGeom>
          <a:solidFill>
            <a:srgbClr val="223259"/>
          </a:solidFill>
          <a:ln w="12700">
            <a:solidFill>
              <a:srgbClr val="35477A"/>
            </a:solidFill>
            <a:prstDash val="solid"/>
          </a:ln>
        </p:spPr>
      </p:sp>
      <p:sp>
        <p:nvSpPr>
          <p:cNvPr id="9" name="Shape 7"/>
          <p:cNvSpPr/>
          <p:nvPr/>
        </p:nvSpPr>
        <p:spPr>
          <a:xfrm>
            <a:off x="6446520" y="1554480"/>
            <a:ext cx="457200" cy="457200"/>
          </a:xfrm>
          <a:prstGeom prst="ellipse">
            <a:avLst/>
          </a:prstGeom>
          <a:solidFill>
            <a:srgbClr val="CADCFC"/>
          </a:solidFill>
          <a:ln/>
        </p:spPr>
      </p:sp>
      <p:sp>
        <p:nvSpPr>
          <p:cNvPr id="10" name="Text 8"/>
          <p:cNvSpPr/>
          <p:nvPr/>
        </p:nvSpPr>
        <p:spPr>
          <a:xfrm>
            <a:off x="6446520" y="1554480"/>
            <a:ext cx="457200" cy="457200"/>
          </a:xfrm>
          <a:prstGeom prst="rect">
            <a:avLst/>
          </a:prstGeom>
          <a:noFill/>
          <a:ln/>
        </p:spPr>
        <p:txBody>
          <a:bodyPr wrap="square" rtlCol="0" anchor="ctr"/>
          <a:lstStyle/>
          <a:p>
            <a:pPr marL="0" indent="0" algn="ctr">
              <a:buNone/>
            </a:pPr>
            <a:r>
              <a:rPr lang="en-US" sz="1800" b="1" dirty="0">
                <a:solidFill>
                  <a:srgbClr val="162542"/>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7040880" y="1508760"/>
            <a:ext cx="4480560"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Exception usage changed sharply in 2026</a:t>
            </a:r>
            <a:endParaRPr lang="en-US" sz="1300" dirty="0"/>
          </a:p>
        </p:txBody>
      </p:sp>
      <p:sp>
        <p:nvSpPr>
          <p:cNvPr id="12" name="Text 10"/>
          <p:cNvSpPr/>
          <p:nvPr/>
        </p:nvSpPr>
        <p:spPr>
          <a:xfrm>
            <a:off x="7040880" y="1901952"/>
            <a:ext cx="4480560" cy="822960"/>
          </a:xfrm>
          <a:prstGeom prst="rect">
            <a:avLst/>
          </a:prstGeom>
          <a:noFill/>
          <a:ln/>
        </p:spPr>
        <p:txBody>
          <a:bodyPr wrap="square" rtlCol="0" anchor="t"/>
          <a:lstStyle/>
          <a:p>
            <a:pPr marL="0" indent="0">
              <a:lnSpc>
                <a:spcPts val="1300"/>
              </a:lnSpc>
              <a:buNone/>
            </a:pPr>
            <a:r>
              <a:rPr lang="en-US" sz="1000" dirty="0">
                <a:solidFill>
                  <a:srgbClr val="C9D3E8"/>
                </a:solidFill>
                <a:latin typeface="Arial" pitchFamily="34" charset="0"/>
                <a:ea typeface="Arial" pitchFamily="34" charset="-122"/>
                <a:cs typeface="Arial" pitchFamily="34" charset="-120"/>
              </a:rPr>
              <a:t>“Customer Contracted Reasons” tagging rose from ~15% of tickets to effectively 100% every month since January 2026. Recommend a governance review with NCR on how and why mitigations are being applied so broadly.</a:t>
            </a:r>
            <a:endParaRPr lang="en-US" sz="1000" dirty="0"/>
          </a:p>
        </p:txBody>
      </p:sp>
      <p:sp>
        <p:nvSpPr>
          <p:cNvPr id="13" name="Shape 11"/>
          <p:cNvSpPr/>
          <p:nvPr/>
        </p:nvSpPr>
        <p:spPr>
          <a:xfrm>
            <a:off x="457200" y="2971800"/>
            <a:ext cx="5440680" cy="1417320"/>
          </a:xfrm>
          <a:prstGeom prst="rect">
            <a:avLst/>
          </a:prstGeom>
          <a:solidFill>
            <a:srgbClr val="223259"/>
          </a:solidFill>
          <a:ln w="12700">
            <a:solidFill>
              <a:srgbClr val="35477A"/>
            </a:solidFill>
            <a:prstDash val="solid"/>
          </a:ln>
        </p:spPr>
      </p:sp>
      <p:sp>
        <p:nvSpPr>
          <p:cNvPr id="14" name="Shape 12"/>
          <p:cNvSpPr/>
          <p:nvPr/>
        </p:nvSpPr>
        <p:spPr>
          <a:xfrm>
            <a:off x="640080" y="3154680"/>
            <a:ext cx="457200" cy="457200"/>
          </a:xfrm>
          <a:prstGeom prst="ellipse">
            <a:avLst/>
          </a:prstGeom>
          <a:solidFill>
            <a:srgbClr val="CADCFC"/>
          </a:solidFill>
          <a:ln/>
        </p:spPr>
      </p:sp>
      <p:sp>
        <p:nvSpPr>
          <p:cNvPr id="15" name="Text 13"/>
          <p:cNvSpPr/>
          <p:nvPr/>
        </p:nvSpPr>
        <p:spPr>
          <a:xfrm>
            <a:off x="640080" y="3154680"/>
            <a:ext cx="457200" cy="457200"/>
          </a:xfrm>
          <a:prstGeom prst="rect">
            <a:avLst/>
          </a:prstGeom>
          <a:noFill/>
          <a:ln/>
        </p:spPr>
        <p:txBody>
          <a:bodyPr wrap="square" rtlCol="0" anchor="ctr"/>
          <a:lstStyle/>
          <a:p>
            <a:pPr marL="0" indent="0" algn="ctr">
              <a:buNone/>
            </a:pPr>
            <a:r>
              <a:rPr lang="en-US" sz="1800" b="1" dirty="0">
                <a:solidFill>
                  <a:srgbClr val="162542"/>
                </a:solidFill>
                <a:latin typeface="Arial" pitchFamily="34" charset="0"/>
                <a:ea typeface="Arial" pitchFamily="34" charset="-122"/>
                <a:cs typeface="Arial" pitchFamily="34" charset="-120"/>
              </a:rPr>
              <a:t>3</a:t>
            </a:r>
            <a:endParaRPr lang="en-US" sz="1800" dirty="0"/>
          </a:p>
        </p:txBody>
      </p:sp>
      <p:sp>
        <p:nvSpPr>
          <p:cNvPr id="16" name="Text 14"/>
          <p:cNvSpPr/>
          <p:nvPr/>
        </p:nvSpPr>
        <p:spPr>
          <a:xfrm>
            <a:off x="1234440" y="3108960"/>
            <a:ext cx="4480560"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Two stores drive a disproportionate share of misses</a:t>
            </a:r>
            <a:endParaRPr lang="en-US" sz="1300" dirty="0"/>
          </a:p>
        </p:txBody>
      </p:sp>
      <p:sp>
        <p:nvSpPr>
          <p:cNvPr id="17" name="Text 15"/>
          <p:cNvSpPr/>
          <p:nvPr/>
        </p:nvSpPr>
        <p:spPr>
          <a:xfrm>
            <a:off x="1234440" y="3502152"/>
            <a:ext cx="4480560" cy="822960"/>
          </a:xfrm>
          <a:prstGeom prst="rect">
            <a:avLst/>
          </a:prstGeom>
          <a:noFill/>
          <a:ln/>
        </p:spPr>
        <p:txBody>
          <a:bodyPr wrap="square" rtlCol="0" anchor="t"/>
          <a:lstStyle/>
          <a:p>
            <a:pPr marL="0" indent="0">
              <a:lnSpc>
                <a:spcPts val="1300"/>
              </a:lnSpc>
              <a:buNone/>
            </a:pPr>
            <a:r>
              <a:rPr lang="en-US" sz="1000" dirty="0">
                <a:solidFill>
                  <a:srgbClr val="C9D3E8"/>
                </a:solidFill>
                <a:latin typeface="Arial" pitchFamily="34" charset="0"/>
                <a:ea typeface="Arial" pitchFamily="34" charset="-122"/>
                <a:cs typeface="Arial" pitchFamily="34" charset="-120"/>
              </a:rPr>
              <a:t>Fresh Thyme #647 (Portage, MI) and #931 (North Canton, OH) combine high volume with the weakest SLA and resolution times — the clearest near-term operational priority.</a:t>
            </a:r>
            <a:endParaRPr lang="en-US" sz="1000" dirty="0"/>
          </a:p>
        </p:txBody>
      </p:sp>
      <p:sp>
        <p:nvSpPr>
          <p:cNvPr id="18" name="Shape 16"/>
          <p:cNvSpPr/>
          <p:nvPr/>
        </p:nvSpPr>
        <p:spPr>
          <a:xfrm>
            <a:off x="6263640" y="2971800"/>
            <a:ext cx="5440680" cy="1417320"/>
          </a:xfrm>
          <a:prstGeom prst="rect">
            <a:avLst/>
          </a:prstGeom>
          <a:solidFill>
            <a:srgbClr val="223259"/>
          </a:solidFill>
          <a:ln w="12700">
            <a:solidFill>
              <a:srgbClr val="35477A"/>
            </a:solidFill>
            <a:prstDash val="solid"/>
          </a:ln>
        </p:spPr>
      </p:sp>
      <p:sp>
        <p:nvSpPr>
          <p:cNvPr id="19" name="Shape 17"/>
          <p:cNvSpPr/>
          <p:nvPr/>
        </p:nvSpPr>
        <p:spPr>
          <a:xfrm>
            <a:off x="6446520" y="3154680"/>
            <a:ext cx="457200" cy="457200"/>
          </a:xfrm>
          <a:prstGeom prst="ellipse">
            <a:avLst/>
          </a:prstGeom>
          <a:solidFill>
            <a:srgbClr val="CADCFC"/>
          </a:solidFill>
          <a:ln/>
        </p:spPr>
      </p:sp>
      <p:sp>
        <p:nvSpPr>
          <p:cNvPr id="20" name="Text 18"/>
          <p:cNvSpPr/>
          <p:nvPr/>
        </p:nvSpPr>
        <p:spPr>
          <a:xfrm>
            <a:off x="6446520" y="3154680"/>
            <a:ext cx="457200" cy="457200"/>
          </a:xfrm>
          <a:prstGeom prst="rect">
            <a:avLst/>
          </a:prstGeom>
          <a:noFill/>
          <a:ln/>
        </p:spPr>
        <p:txBody>
          <a:bodyPr wrap="square" rtlCol="0" anchor="ctr"/>
          <a:lstStyle/>
          <a:p>
            <a:pPr marL="0" indent="0" algn="ctr">
              <a:buNone/>
            </a:pPr>
            <a:r>
              <a:rPr lang="en-US" sz="1800" b="1" dirty="0">
                <a:solidFill>
                  <a:srgbClr val="162542"/>
                </a:solidFill>
                <a:latin typeface="Arial" pitchFamily="34" charset="0"/>
                <a:ea typeface="Arial" pitchFamily="34" charset="-122"/>
                <a:cs typeface="Arial" pitchFamily="34" charset="-120"/>
              </a:rPr>
              <a:t>4</a:t>
            </a:r>
            <a:endParaRPr lang="en-US" sz="1800" dirty="0"/>
          </a:p>
        </p:txBody>
      </p:sp>
      <p:sp>
        <p:nvSpPr>
          <p:cNvPr id="21" name="Text 19"/>
          <p:cNvSpPr/>
          <p:nvPr/>
        </p:nvSpPr>
        <p:spPr>
          <a:xfrm>
            <a:off x="7040880" y="3108960"/>
            <a:ext cx="4480560"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A small technician group needs support</a:t>
            </a:r>
            <a:endParaRPr lang="en-US" sz="1300" dirty="0"/>
          </a:p>
        </p:txBody>
      </p:sp>
      <p:sp>
        <p:nvSpPr>
          <p:cNvPr id="22" name="Text 20"/>
          <p:cNvSpPr/>
          <p:nvPr/>
        </p:nvSpPr>
        <p:spPr>
          <a:xfrm>
            <a:off x="7040880" y="3502152"/>
            <a:ext cx="4480560" cy="822960"/>
          </a:xfrm>
          <a:prstGeom prst="rect">
            <a:avLst/>
          </a:prstGeom>
          <a:noFill/>
          <a:ln/>
        </p:spPr>
        <p:txBody>
          <a:bodyPr wrap="square" rtlCol="0" anchor="t"/>
          <a:lstStyle/>
          <a:p>
            <a:pPr marL="0" indent="0">
              <a:lnSpc>
                <a:spcPts val="1300"/>
              </a:lnSpc>
              <a:buNone/>
            </a:pPr>
            <a:r>
              <a:rPr lang="en-US" sz="1000" dirty="0">
                <a:solidFill>
                  <a:srgbClr val="C9D3E8"/>
                </a:solidFill>
                <a:latin typeface="Arial" pitchFamily="34" charset="0"/>
                <a:ea typeface="Arial" pitchFamily="34" charset="-122"/>
                <a:cs typeface="Arial" pitchFamily="34" charset="-120"/>
              </a:rPr>
              <a:t>August Ronald and Carlson Paul carry the heaviest loads among lower performers; a workload and coaching review is recommended before broader staffing conclusions.</a:t>
            </a:r>
            <a:endParaRPr lang="en-US" sz="1000" dirty="0"/>
          </a:p>
        </p:txBody>
      </p:sp>
      <p:sp>
        <p:nvSpPr>
          <p:cNvPr id="23" name="Shape 21"/>
          <p:cNvSpPr/>
          <p:nvPr/>
        </p:nvSpPr>
        <p:spPr>
          <a:xfrm>
            <a:off x="457200" y="4572000"/>
            <a:ext cx="5440680" cy="1417320"/>
          </a:xfrm>
          <a:prstGeom prst="rect">
            <a:avLst/>
          </a:prstGeom>
          <a:solidFill>
            <a:srgbClr val="223259"/>
          </a:solidFill>
          <a:ln w="12700">
            <a:solidFill>
              <a:srgbClr val="35477A"/>
            </a:solidFill>
            <a:prstDash val="solid"/>
          </a:ln>
        </p:spPr>
      </p:sp>
      <p:sp>
        <p:nvSpPr>
          <p:cNvPr id="24" name="Shape 22"/>
          <p:cNvSpPr/>
          <p:nvPr/>
        </p:nvSpPr>
        <p:spPr>
          <a:xfrm>
            <a:off x="640080" y="4754880"/>
            <a:ext cx="457200" cy="457200"/>
          </a:xfrm>
          <a:prstGeom prst="ellipse">
            <a:avLst/>
          </a:prstGeom>
          <a:solidFill>
            <a:srgbClr val="CADCFC"/>
          </a:solidFill>
          <a:ln/>
        </p:spPr>
      </p:sp>
      <p:sp>
        <p:nvSpPr>
          <p:cNvPr id="25" name="Text 23"/>
          <p:cNvSpPr/>
          <p:nvPr/>
        </p:nvSpPr>
        <p:spPr>
          <a:xfrm>
            <a:off x="640080" y="4754880"/>
            <a:ext cx="457200" cy="457200"/>
          </a:xfrm>
          <a:prstGeom prst="rect">
            <a:avLst/>
          </a:prstGeom>
          <a:noFill/>
          <a:ln/>
        </p:spPr>
        <p:txBody>
          <a:bodyPr wrap="square" rtlCol="0" anchor="ctr"/>
          <a:lstStyle/>
          <a:p>
            <a:pPr marL="0" indent="0" algn="ctr">
              <a:buNone/>
            </a:pPr>
            <a:r>
              <a:rPr lang="en-US" sz="1800" b="1" dirty="0">
                <a:solidFill>
                  <a:srgbClr val="162542"/>
                </a:solidFill>
                <a:latin typeface="Arial" pitchFamily="34" charset="0"/>
                <a:ea typeface="Arial" pitchFamily="34" charset="-122"/>
                <a:cs typeface="Arial" pitchFamily="34" charset="-120"/>
              </a:rPr>
              <a:t>5</a:t>
            </a:r>
            <a:endParaRPr lang="en-US" sz="1800" dirty="0"/>
          </a:p>
        </p:txBody>
      </p:sp>
      <p:sp>
        <p:nvSpPr>
          <p:cNvPr id="26" name="Text 24"/>
          <p:cNvSpPr/>
          <p:nvPr/>
        </p:nvSpPr>
        <p:spPr>
          <a:xfrm>
            <a:off x="1234440" y="4709160"/>
            <a:ext cx="4480560"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November 2025 and June 2026 were the weakest months</a:t>
            </a:r>
            <a:endParaRPr lang="en-US" sz="1300" dirty="0"/>
          </a:p>
        </p:txBody>
      </p:sp>
      <p:sp>
        <p:nvSpPr>
          <p:cNvPr id="27" name="Text 25"/>
          <p:cNvSpPr/>
          <p:nvPr/>
        </p:nvSpPr>
        <p:spPr>
          <a:xfrm>
            <a:off x="1234440" y="5102352"/>
            <a:ext cx="4480560" cy="822960"/>
          </a:xfrm>
          <a:prstGeom prst="rect">
            <a:avLst/>
          </a:prstGeom>
          <a:noFill/>
          <a:ln/>
        </p:spPr>
        <p:txBody>
          <a:bodyPr wrap="square" rtlCol="0" anchor="t"/>
          <a:lstStyle/>
          <a:p>
            <a:pPr marL="0" indent="0">
              <a:lnSpc>
                <a:spcPts val="1300"/>
              </a:lnSpc>
              <a:buNone/>
            </a:pPr>
            <a:r>
              <a:rPr lang="en-US" sz="1000" dirty="0">
                <a:solidFill>
                  <a:srgbClr val="C9D3E8"/>
                </a:solidFill>
                <a:latin typeface="Arial" pitchFamily="34" charset="0"/>
                <a:ea typeface="Arial" pitchFamily="34" charset="-122"/>
                <a:cs typeface="Arial" pitchFamily="34" charset="-120"/>
              </a:rPr>
              <a:t>39.3% and 60.0% SLA respectively, against 90-100% in Feb–Apr and Aug 2026 — worth reviewing for seasonal or staffing drivers.</a:t>
            </a:r>
            <a:endParaRPr lang="en-US" sz="1000" dirty="0"/>
          </a:p>
        </p:txBody>
      </p:sp>
      <p:sp>
        <p:nvSpPr>
          <p:cNvPr id="28" name="Shape 26"/>
          <p:cNvSpPr/>
          <p:nvPr/>
        </p:nvSpPr>
        <p:spPr>
          <a:xfrm>
            <a:off x="6263640" y="4572000"/>
            <a:ext cx="5440680" cy="1417320"/>
          </a:xfrm>
          <a:prstGeom prst="rect">
            <a:avLst/>
          </a:prstGeom>
          <a:solidFill>
            <a:srgbClr val="223259"/>
          </a:solidFill>
          <a:ln w="12700">
            <a:solidFill>
              <a:srgbClr val="35477A"/>
            </a:solidFill>
            <a:prstDash val="solid"/>
          </a:ln>
        </p:spPr>
      </p:sp>
      <p:sp>
        <p:nvSpPr>
          <p:cNvPr id="29" name="Shape 27"/>
          <p:cNvSpPr/>
          <p:nvPr/>
        </p:nvSpPr>
        <p:spPr>
          <a:xfrm>
            <a:off x="6446520" y="4754880"/>
            <a:ext cx="457200" cy="457200"/>
          </a:xfrm>
          <a:prstGeom prst="ellipse">
            <a:avLst/>
          </a:prstGeom>
          <a:solidFill>
            <a:srgbClr val="CADCFC"/>
          </a:solidFill>
          <a:ln/>
        </p:spPr>
      </p:sp>
      <p:sp>
        <p:nvSpPr>
          <p:cNvPr id="30" name="Text 28"/>
          <p:cNvSpPr/>
          <p:nvPr/>
        </p:nvSpPr>
        <p:spPr>
          <a:xfrm>
            <a:off x="6446520" y="4754880"/>
            <a:ext cx="457200" cy="457200"/>
          </a:xfrm>
          <a:prstGeom prst="rect">
            <a:avLst/>
          </a:prstGeom>
          <a:noFill/>
          <a:ln/>
        </p:spPr>
        <p:txBody>
          <a:bodyPr wrap="square" rtlCol="0" anchor="ctr"/>
          <a:lstStyle/>
          <a:p>
            <a:pPr marL="0" indent="0" algn="ctr">
              <a:buNone/>
            </a:pPr>
            <a:r>
              <a:rPr lang="en-US" sz="1800" b="1" dirty="0">
                <a:solidFill>
                  <a:srgbClr val="162542"/>
                </a:solidFill>
                <a:latin typeface="Arial" pitchFamily="34" charset="0"/>
                <a:ea typeface="Arial" pitchFamily="34" charset="-122"/>
                <a:cs typeface="Arial" pitchFamily="34" charset="-120"/>
              </a:rPr>
              <a:t>6</a:t>
            </a:r>
            <a:endParaRPr lang="en-US" sz="1800" dirty="0"/>
          </a:p>
        </p:txBody>
      </p:sp>
      <p:sp>
        <p:nvSpPr>
          <p:cNvPr id="31" name="Text 29"/>
          <p:cNvSpPr/>
          <p:nvPr/>
        </p:nvSpPr>
        <p:spPr>
          <a:xfrm>
            <a:off x="7040880" y="4709160"/>
            <a:ext cx="4480560"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A data-quality fix was applied</a:t>
            </a:r>
            <a:endParaRPr lang="en-US" sz="1300" dirty="0"/>
          </a:p>
        </p:txBody>
      </p:sp>
      <p:sp>
        <p:nvSpPr>
          <p:cNvPr id="32" name="Text 30"/>
          <p:cNvSpPr/>
          <p:nvPr/>
        </p:nvSpPr>
        <p:spPr>
          <a:xfrm>
            <a:off x="7040880" y="5102352"/>
            <a:ext cx="4480560" cy="822960"/>
          </a:xfrm>
          <a:prstGeom prst="rect">
            <a:avLst/>
          </a:prstGeom>
          <a:noFill/>
          <a:ln/>
        </p:spPr>
        <p:txBody>
          <a:bodyPr wrap="square" rtlCol="0" anchor="t"/>
          <a:lstStyle/>
          <a:p>
            <a:pPr marL="0" indent="0">
              <a:lnSpc>
                <a:spcPts val="1300"/>
              </a:lnSpc>
              <a:buNone/>
            </a:pPr>
            <a:r>
              <a:rPr lang="en-US" sz="1000" dirty="0">
                <a:solidFill>
                  <a:srgbClr val="C9D3E8"/>
                </a:solidFill>
                <a:latin typeface="Arial" pitchFamily="34" charset="0"/>
                <a:ea typeface="Arial" pitchFamily="34" charset="-122"/>
                <a:cs typeface="Arial" pitchFamily="34" charset="-120"/>
              </a:rPr>
              <a:t>The source ‘Resolve Duration (Hours)’ field is mislabeled and actually stored in minutes; this report uses the corrected field throughout (see workbook methodology).</a:t>
            </a:r>
            <a:endParaRPr lang="en-US" sz="1000" dirty="0"/>
          </a:p>
        </p:txBody>
      </p:sp>
      <p:sp>
        <p:nvSpPr>
          <p:cNvPr id="33" name="Text 31"/>
          <p:cNvSpPr/>
          <p:nvPr/>
        </p:nvSpPr>
        <p:spPr>
          <a:xfrm>
            <a:off x="457200" y="6537960"/>
            <a:ext cx="9601200" cy="274320"/>
          </a:xfrm>
          <a:prstGeom prst="rect">
            <a:avLst/>
          </a:prstGeom>
          <a:noFill/>
          <a:ln/>
        </p:spPr>
        <p:txBody>
          <a:bodyPr wrap="square" rtlCol="0" anchor="ctr"/>
          <a:lstStyle/>
          <a:p>
            <a:pPr marL="0" indent="0" algn="l">
              <a:buNone/>
            </a:pPr>
            <a:r>
              <a:rPr lang="en-US" sz="800" dirty="0">
                <a:solidFill>
                  <a:srgbClr val="8FA3C7"/>
                </a:solidFill>
                <a:latin typeface="Arial" pitchFamily="34" charset="0"/>
                <a:ea typeface="Arial" pitchFamily="34" charset="-122"/>
                <a:cs typeface="Arial" pitchFamily="34" charset="-120"/>
              </a:rPr>
              <a:t>Fresh Thyme YTD SLA Performance Report  |  Aug 2025 – Aug 2026  |  Vendor: NCR  |  Account: Meijer Inc.</a:t>
            </a:r>
            <a:endParaRPr lang="en-US" sz="800" dirty="0"/>
          </a:p>
        </p:txBody>
      </p:sp>
      <p:sp>
        <p:nvSpPr>
          <p:cNvPr id="34" name="Text 32"/>
          <p:cNvSpPr/>
          <p:nvPr/>
        </p:nvSpPr>
        <p:spPr>
          <a:xfrm>
            <a:off x="11521440" y="6537960"/>
            <a:ext cx="457200" cy="274320"/>
          </a:xfrm>
          <a:prstGeom prst="rect">
            <a:avLst/>
          </a:prstGeom>
          <a:noFill/>
          <a:ln/>
        </p:spPr>
        <p:txBody>
          <a:bodyPr wrap="square" rtlCol="0" anchor="ctr"/>
          <a:lstStyle/>
          <a:p>
            <a:pPr marL="0" indent="0" algn="r">
              <a:buNone/>
            </a:pPr>
            <a:r>
              <a:rPr lang="en-US" sz="800" dirty="0">
                <a:solidFill>
                  <a:srgbClr val="8FA3C7"/>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1538</Words>
  <Application>Microsoft Macintosh PowerPoint</Application>
  <PresentationFormat>Widescreen</PresentationFormat>
  <Paragraphs>217</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Uros Peric</cp:lastModifiedBy>
  <cp:revision>1</cp:revision>
  <dcterms:created xsi:type="dcterms:W3CDTF">2026-08-12T14:46:58Z</dcterms:created>
  <dcterms:modified xsi:type="dcterms:W3CDTF">2026-08-12T15:03:50Z</dcterms:modified>
</cp:coreProperties>
</file>